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64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6DA96B-ADB7-407B-A69E-C5CF7785941A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ECE583-8670-45BA-BB0B-682E300FA3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107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各位老师好，我的毕业设计题目是基于 </a:t>
            </a:r>
            <a:r>
              <a:rPr lang="en-US" altLang="zh-CN"/>
              <a:t>Attention-LSTM </a:t>
            </a:r>
            <a:r>
              <a:rPr lang="zh-CN" altLang="en-US"/>
              <a:t>的交通碰撞风险预测与可解释分析系统。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CE583-8670-45BA-BB0B-682E300FA34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560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本页讲研究背景，重点说明交通安全场景中漏报代价高，因此更关注风险识别能力。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CE583-8670-45BA-BB0B-682E300FA34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47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本页介绍数据集构建，说明输入数据和标签结构。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CE583-8670-45BA-BB0B-682E300FA34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302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本页说明技术路线，从数据到模型再到前端展示。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CE583-8670-45BA-BB0B-682E300FA34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56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本页讲模型结构，</a:t>
            </a:r>
            <a:r>
              <a:rPr lang="en-US" altLang="zh-CN"/>
              <a:t>LSTM </a:t>
            </a:r>
            <a:r>
              <a:rPr lang="zh-CN" altLang="en-US"/>
              <a:t>负责时序建模，</a:t>
            </a:r>
            <a:r>
              <a:rPr lang="en-US" altLang="zh-CN"/>
              <a:t>Attention </a:t>
            </a:r>
            <a:r>
              <a:rPr lang="zh-CN" altLang="en-US"/>
              <a:t>负责关键特征权重分配。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CE583-8670-45BA-BB0B-682E300FA34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438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本页解释平滑门和流式后处理，强调输出稳定和召回率。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CE583-8670-45BA-BB0B-682E300FA34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946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本页讲实验设计，说明对比模型和评价指标。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CE583-8670-45BA-BB0B-682E300FA34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427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本页讲核心实验结果，强调 </a:t>
            </a:r>
            <a:r>
              <a:rPr lang="en-US" altLang="zh-CN"/>
              <a:t>Recall </a:t>
            </a:r>
            <a:r>
              <a:rPr lang="zh-CN" altLang="en-US"/>
              <a:t>和 </a:t>
            </a:r>
            <a:r>
              <a:rPr lang="en-US" altLang="zh-CN"/>
              <a:t>AUC-PR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CE583-8670-45BA-BB0B-682E300FA34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848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本页讲消融实验，完整模型优于去掉模块后的版本。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CE583-8670-45BA-BB0B-682E300FA34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3624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本页展示真实前端截图，说明系统展示能力。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CE583-8670-45BA-BB0B-682E300FA34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3775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本页必须讲清系统边界，避免被认为夸大。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CE583-8670-45BA-BB0B-682E300FA34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8437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本页讲部署运行和 </a:t>
            </a:r>
            <a:r>
              <a:rPr lang="en-US" altLang="zh-CN"/>
              <a:t>Git LFS </a:t>
            </a:r>
            <a:r>
              <a:rPr lang="zh-CN" altLang="en-US"/>
              <a:t>注意事项。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CE583-8670-45BA-BB0B-682E300FA346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978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总结项目成果，强调闭环完整。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CE583-8670-45BA-BB0B-682E300FA34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6636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最后说明不足与展望。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CE583-8670-45BA-BB0B-682E300FA346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664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C8F882-E8D4-61AC-2559-251559136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EE0505-63AC-4278-A563-BA590236D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E54D78-5CF5-F4CE-6C74-EEB4A4A90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F252-56B9-4A09-9D15-6C48EB3BFF38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803239-766F-223C-7FFA-068DF2DD4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B2B5BE-4E39-56BF-3985-5E7049738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E229-13C5-4674-AD4F-179E0CA10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211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4EAA95-30FB-D166-EDEF-C84F7B056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00D4C8-13DB-B64A-7350-12A83DC20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801558-3DA5-4F42-E0CF-5E7F9F2C3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F252-56B9-4A09-9D15-6C48EB3BFF38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D0ED1A-80C1-B71B-D9B6-F448218F1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C90097-2D90-CEF3-756A-51282427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E229-13C5-4674-AD4F-179E0CA10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7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2FCDB1-1BE8-BB1D-264A-A2512AF95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E39B56-8D9A-510F-3661-1598828B2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7E180B-98ED-DB2A-42D4-A99693FDE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F252-56B9-4A09-9D15-6C48EB3BFF38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45EFC7-D2FE-55EE-DCB2-946094A2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BE5F11-EBCA-DF05-943C-46979E719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E229-13C5-4674-AD4F-179E0CA10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98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7AAD8-9209-ED7D-5383-3B0624F86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125655-7C49-145E-4D01-3DA588C894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B85BE0-EFAD-F49E-F4D9-7D82AE158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2B686D-19FE-528B-C7C2-E5B328B1A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F252-56B9-4A09-9D15-6C48EB3BFF38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7FE34F-C93A-851E-73F7-912C87EE6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C65355-13B1-D455-8366-A6831F796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E229-13C5-4674-AD4F-179E0CA10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294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60F0F5-4C6B-4FED-39A9-E59C9A8FD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0DA8CE-04DC-06AF-E729-00BF5A4D9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0A7C09-B7D8-E149-195D-5AE3253E6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67DCB2A-2BBC-FFA8-8EEF-A1F7C2AEF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0766C7A-09E9-6139-A4E7-B68A1224EE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B5C21DE-ADDA-B9A2-750B-D229677EA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F252-56B9-4A09-9D15-6C48EB3BFF38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A648917-C5D3-F5C8-A503-0732A9C76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6BB3193-E5BC-605B-0FF0-AEFB45879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E229-13C5-4674-AD4F-179E0CA10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808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C0FC9E-87F7-0841-7302-969BDAF15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5DE990-4A0A-F272-A661-E0BBF679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F252-56B9-4A09-9D15-6C48EB3BFF38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9A2574-3F59-6DC8-55C3-543441E2D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F50BEF-14C5-478E-2E68-C1BB01406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E229-13C5-4674-AD4F-179E0CA10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167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C0A177-573B-FC8D-1765-6045C7FEA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F252-56B9-4A09-9D15-6C48EB3BFF38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51F0675-6826-1D9C-0082-520989BC3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CD3199-343E-C258-D3AC-CA1DFB00E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E229-13C5-4674-AD4F-179E0CA10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935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E3C77-E36B-3F13-5A9A-6DC0BA6A2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100326-6C0D-06D8-106C-E649EC364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858D54-1BCA-E856-CEA1-47E87A395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0EDBE6-6686-C307-663C-B9DCA4273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F252-56B9-4A09-9D15-6C48EB3BFF38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57A92D-2619-5A2F-12DC-E6AB3C833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F58853-04C5-A437-1802-F3F5437E7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E229-13C5-4674-AD4F-179E0CA10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25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CA21FB-4B97-05D2-C39F-AFA6F1BDF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FF3033F-3233-7962-466C-896E66927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9AAC24-8C66-DD4F-878D-85B5B933A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5EEECE-57E4-072A-2A71-CCAF3702A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F252-56B9-4A09-9D15-6C48EB3BFF38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8D583B-423F-52B1-3D1C-E6CB69DF8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C12C6F-3BB3-5232-598D-E5EE05B3E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E229-13C5-4674-AD4F-179E0CA10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063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027E91-AB1D-ABF3-3884-63CA7BFFB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78953F-E0DA-ADBD-9C59-476BCB5F1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726E70-7372-B055-BE2E-F5120C60C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F252-56B9-4A09-9D15-6C48EB3BFF38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89C4B-CF57-F874-5A12-C0B6B57C6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E8541E-3E1A-CD4E-53F4-3B9CAEE67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E229-13C5-4674-AD4F-179E0CA10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125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DC7FDA-5E03-7540-E7F4-BE0038D806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C5A93D-3347-C702-96CD-32CD30100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B68862-D83D-7532-27E9-E9AC62BE8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F252-56B9-4A09-9D15-6C48EB3BFF38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E4BC0B-5AB3-B384-83E5-A2146589A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AA2E7F-2357-9382-42F7-428DF1C90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E229-13C5-4674-AD4F-179E0CA10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113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8B3807-18F9-D0BE-600C-2E977ECF7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ABE479-225B-6456-37F4-E92B13B15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4F03C2-644B-2F51-F9CB-B4049529F8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0F252-56B9-4A09-9D15-6C48EB3BFF38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F0E027-0FE1-E270-9DE6-7E280B939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530533-7632-4F2A-CD5C-9B2BE60CD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3E229-13C5-4674-AD4F-179E0CA10D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565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B3EAF13B-A8AD-9CD2-4436-04F038AB795D}"/>
              </a:ext>
            </a:extLst>
          </p:cNvPr>
          <p:cNvSpPr/>
          <p:nvPr/>
        </p:nvSpPr>
        <p:spPr>
          <a:xfrm>
            <a:off x="533400" y="533400"/>
            <a:ext cx="11125200" cy="579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27F33E1-72FA-9E2D-036B-89DDB831E937}"/>
              </a:ext>
            </a:extLst>
          </p:cNvPr>
          <p:cNvSpPr/>
          <p:nvPr/>
        </p:nvSpPr>
        <p:spPr>
          <a:xfrm>
            <a:off x="6540500" y="1028700"/>
            <a:ext cx="4318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52F6A8F-89E3-B28F-7CCE-CD8F8E16F6A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1092200"/>
            <a:ext cx="4191000" cy="317500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3788C237-60EA-AB10-A8AE-27BEB3CE3708}"/>
              </a:ext>
            </a:extLst>
          </p:cNvPr>
          <p:cNvSpPr/>
          <p:nvPr/>
        </p:nvSpPr>
        <p:spPr>
          <a:xfrm>
            <a:off x="990600" y="1092200"/>
            <a:ext cx="1905000" cy="381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1E8A982-55D4-525E-526B-F97BF6AF6FA2}"/>
              </a:ext>
            </a:extLst>
          </p:cNvPr>
          <p:cNvSpPr txBox="1"/>
          <p:nvPr/>
        </p:nvSpPr>
        <p:spPr>
          <a:xfrm>
            <a:off x="1066800" y="1168400"/>
            <a:ext cx="17526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2563EB"/>
                </a:solidFill>
                <a:latin typeface="Microsoft YaHei" panose="020B0503020204020204" pitchFamily="34" charset="-122"/>
              </a:rPr>
              <a:t>Graduation Defense</a:t>
            </a:r>
            <a:endParaRPr lang="zh-CN" altLang="en-US" sz="10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F12A32F-9124-259E-1ECE-B7E6CE363AEE}"/>
              </a:ext>
            </a:extLst>
          </p:cNvPr>
          <p:cNvSpPr txBox="1"/>
          <p:nvPr/>
        </p:nvSpPr>
        <p:spPr>
          <a:xfrm>
            <a:off x="965200" y="1752600"/>
            <a:ext cx="4953000" cy="143116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900" b="1">
                <a:solidFill>
                  <a:srgbClr val="0F172A"/>
                </a:solidFill>
                <a:latin typeface="Microsoft YaHei" panose="020B0503020204020204" pitchFamily="34" charset="-122"/>
              </a:rPr>
              <a:t>基于 </a:t>
            </a:r>
            <a:r>
              <a:rPr lang="en-US" altLang="zh-CN" sz="2900" b="1">
                <a:solidFill>
                  <a:srgbClr val="0F172A"/>
                </a:solidFill>
                <a:latin typeface="Microsoft YaHei" panose="020B0503020204020204" pitchFamily="34" charset="-122"/>
              </a:rPr>
              <a:t>Attention-LSTM </a:t>
            </a:r>
            <a:r>
              <a:rPr lang="zh-CN" altLang="en-US" sz="2900" b="1">
                <a:solidFill>
                  <a:srgbClr val="0F172A"/>
                </a:solidFill>
                <a:latin typeface="Microsoft YaHei" panose="020B0503020204020204" pitchFamily="34" charset="-122"/>
              </a:rPr>
              <a:t>的
交通碰撞风险预测与可解释分析系统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B01D763-FDD0-BFDF-0D4B-23C3217AC2F8}"/>
              </a:ext>
            </a:extLst>
          </p:cNvPr>
          <p:cNvSpPr txBox="1"/>
          <p:nvPr/>
        </p:nvSpPr>
        <p:spPr>
          <a:xfrm>
            <a:off x="1016000" y="3429000"/>
            <a:ext cx="50800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00">
                <a:solidFill>
                  <a:srgbClr val="0891B2"/>
                </a:solidFill>
                <a:latin typeface="Microsoft YaHei" panose="020B0503020204020204" pitchFamily="34" charset="-122"/>
              </a:rPr>
              <a:t>NYC &amp; Chicago · Risk Forecasting · Explainable Dashboard</a:t>
            </a:r>
            <a:endParaRPr lang="zh-CN" altLang="en-US" sz="1300">
              <a:solidFill>
                <a:srgbClr val="0891B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1063C05-F235-46AA-6E22-4EAB93A40318}"/>
              </a:ext>
            </a:extLst>
          </p:cNvPr>
          <p:cNvSpPr txBox="1"/>
          <p:nvPr/>
        </p:nvSpPr>
        <p:spPr>
          <a:xfrm>
            <a:off x="1016000" y="4927600"/>
            <a:ext cx="54610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300">
                <a:solidFill>
                  <a:srgbClr val="64748B"/>
                </a:solidFill>
                <a:latin typeface="Microsoft YaHei" panose="020B0503020204020204" pitchFamily="34" charset="-122"/>
              </a:rPr>
              <a:t>学生：</a:t>
            </a:r>
            <a:r>
              <a:rPr lang="en-US" altLang="zh-CN" sz="1300">
                <a:solidFill>
                  <a:srgbClr val="64748B"/>
                </a:solidFill>
                <a:latin typeface="Microsoft YaHei" panose="020B0503020204020204" pitchFamily="34" charset="-122"/>
              </a:rPr>
              <a:t>________    </a:t>
            </a:r>
            <a:r>
              <a:rPr lang="zh-CN" altLang="en-US" sz="1300">
                <a:solidFill>
                  <a:srgbClr val="64748B"/>
                </a:solidFill>
                <a:latin typeface="Microsoft YaHei" panose="020B0503020204020204" pitchFamily="34" charset="-122"/>
              </a:rPr>
              <a:t>指导老师：</a:t>
            </a:r>
            <a:r>
              <a:rPr lang="en-US" altLang="zh-CN" sz="1300">
                <a:solidFill>
                  <a:srgbClr val="64748B"/>
                </a:solidFill>
                <a:latin typeface="Microsoft YaHei" panose="020B0503020204020204" pitchFamily="34" charset="-122"/>
              </a:rPr>
              <a:t>________
</a:t>
            </a:r>
            <a:r>
              <a:rPr lang="zh-CN" altLang="en-US" sz="1300">
                <a:solidFill>
                  <a:srgbClr val="64748B"/>
                </a:solidFill>
                <a:latin typeface="Microsoft YaHei" panose="020B0503020204020204" pitchFamily="34" charset="-122"/>
              </a:rPr>
              <a:t>专业：</a:t>
            </a:r>
            <a:r>
              <a:rPr lang="en-US" altLang="zh-CN" sz="1300">
                <a:solidFill>
                  <a:srgbClr val="64748B"/>
                </a:solidFill>
                <a:latin typeface="Microsoft YaHei" panose="020B0503020204020204" pitchFamily="34" charset="-122"/>
              </a:rPr>
              <a:t>________    </a:t>
            </a:r>
            <a:r>
              <a:rPr lang="zh-CN" altLang="en-US" sz="1300">
                <a:solidFill>
                  <a:srgbClr val="64748B"/>
                </a:solidFill>
                <a:latin typeface="Microsoft YaHei" panose="020B0503020204020204" pitchFamily="34" charset="-122"/>
              </a:rPr>
              <a:t>日期：</a:t>
            </a:r>
            <a:r>
              <a:rPr lang="en-US" altLang="zh-CN" sz="1300">
                <a:solidFill>
                  <a:srgbClr val="64748B"/>
                </a:solidFill>
                <a:latin typeface="Microsoft YaHei" panose="020B0503020204020204" pitchFamily="34" charset="-122"/>
              </a:rPr>
              <a:t>________</a:t>
            </a:r>
            <a:endParaRPr lang="zh-CN" altLang="en-US" sz="13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2975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BAEE274-EE29-A8C6-B07C-67FE763CB4BE}"/>
              </a:ext>
            </a:extLst>
          </p:cNvPr>
          <p:cNvSpPr txBox="1"/>
          <p:nvPr/>
        </p:nvSpPr>
        <p:spPr>
          <a:xfrm>
            <a:off x="685800" y="381000"/>
            <a:ext cx="9652000" cy="4873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500" b="1">
                <a:solidFill>
                  <a:srgbClr val="0F172A"/>
                </a:solidFill>
                <a:latin typeface="Microsoft YaHei" panose="020B0503020204020204" pitchFamily="34" charset="-122"/>
              </a:rPr>
              <a:t>研究背景与问题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9C9CFF-3C20-6110-0F25-52C485B62031}"/>
              </a:ext>
            </a:extLst>
          </p:cNvPr>
          <p:cNvSpPr txBox="1"/>
          <p:nvPr/>
        </p:nvSpPr>
        <p:spPr>
          <a:xfrm>
            <a:off x="711200" y="863600"/>
            <a:ext cx="939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100">
                <a:solidFill>
                  <a:srgbClr val="64748B"/>
                </a:solidFill>
                <a:latin typeface="Microsoft YaHei" panose="020B0503020204020204" pitchFamily="34" charset="-122"/>
              </a:rPr>
              <a:t>交通安全预警需要提前识别高风险区域，尤其要减少漏报。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2AA78B-31AD-56E4-05BF-F154F77DEFAD}"/>
              </a:ext>
            </a:extLst>
          </p:cNvPr>
          <p:cNvSpPr/>
          <p:nvPr/>
        </p:nvSpPr>
        <p:spPr>
          <a:xfrm>
            <a:off x="711200" y="1257300"/>
            <a:ext cx="10922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D817FA-5447-833D-9BF8-3CDF86278871}"/>
              </a:ext>
            </a:extLst>
          </p:cNvPr>
          <p:cNvSpPr txBox="1"/>
          <p:nvPr/>
        </p:nvSpPr>
        <p:spPr>
          <a:xfrm>
            <a:off x="11099800" y="431800"/>
            <a:ext cx="50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64748B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11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6DA331F-626F-174B-C3B1-FEEB9A0966D7}"/>
              </a:ext>
            </a:extLst>
          </p:cNvPr>
          <p:cNvSpPr/>
          <p:nvPr/>
        </p:nvSpPr>
        <p:spPr>
          <a:xfrm>
            <a:off x="736600" y="1625600"/>
            <a:ext cx="5016500" cy="361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74FD5DF-E5B3-EE89-4F99-4CEE329674BD}"/>
              </a:ext>
            </a:extLst>
          </p:cNvPr>
          <p:cNvSpPr txBox="1"/>
          <p:nvPr/>
        </p:nvSpPr>
        <p:spPr>
          <a:xfrm>
            <a:off x="990600" y="1968500"/>
            <a:ext cx="4445000" cy="179536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9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1E293B"/>
                </a:solidFill>
                <a:latin typeface="Microsoft YaHei" panose="020B0503020204020204" pitchFamily="34" charset="-122"/>
              </a:rPr>
              <a:t>城市交通碰撞具有突发性和时空相关性
</a:t>
            </a:r>
            <a:r>
              <a:rPr lang="en-US" altLang="zh-CN" sz="19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1E293B"/>
                </a:solidFill>
                <a:latin typeface="Microsoft YaHei" panose="020B0503020204020204" pitchFamily="34" charset="-122"/>
              </a:rPr>
              <a:t>传统统计方法难以刻画复杂动态变化
</a:t>
            </a:r>
            <a:r>
              <a:rPr lang="en-US" altLang="zh-CN" sz="19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1E293B"/>
                </a:solidFill>
                <a:latin typeface="Microsoft YaHei" panose="020B0503020204020204" pitchFamily="34" charset="-122"/>
              </a:rPr>
              <a:t>碰撞样本存在类别不平衡问题
</a:t>
            </a:r>
            <a:r>
              <a:rPr lang="en-US" altLang="zh-CN" sz="19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900">
                <a:solidFill>
                  <a:srgbClr val="1E293B"/>
                </a:solidFill>
                <a:latin typeface="Microsoft YaHei" panose="020B0503020204020204" pitchFamily="34" charset="-122"/>
              </a:rPr>
              <a:t>预警场景中漏报代价高于误报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CBA76E5-79EC-085E-9E90-CE2339DB2BC0}"/>
              </a:ext>
            </a:extLst>
          </p:cNvPr>
          <p:cNvSpPr/>
          <p:nvPr/>
        </p:nvSpPr>
        <p:spPr>
          <a:xfrm>
            <a:off x="990600" y="4381500"/>
            <a:ext cx="2032000" cy="9906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8C7B75C-E441-85C6-310D-D52597B2635C}"/>
              </a:ext>
            </a:extLst>
          </p:cNvPr>
          <p:cNvSpPr txBox="1"/>
          <p:nvPr/>
        </p:nvSpPr>
        <p:spPr>
          <a:xfrm>
            <a:off x="1143000" y="4533900"/>
            <a:ext cx="17272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Research Task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B96C6E7-95DC-5B19-8595-2C676A7E68E7}"/>
              </a:ext>
            </a:extLst>
          </p:cNvPr>
          <p:cNvSpPr txBox="1"/>
          <p:nvPr/>
        </p:nvSpPr>
        <p:spPr>
          <a:xfrm>
            <a:off x="1143000" y="4813300"/>
            <a:ext cx="1727200" cy="77970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2200" b="1">
                <a:solidFill>
                  <a:srgbClr val="2563EB"/>
                </a:solidFill>
                <a:latin typeface="Microsoft YaHei" panose="020B0503020204020204" pitchFamily="34" charset="-122"/>
              </a:rPr>
              <a:t>Risk Warning</a:t>
            </a:r>
            <a:endParaRPr lang="zh-CN" altLang="en-US" sz="22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322262-8258-A734-786B-3BB65135F833}"/>
              </a:ext>
            </a:extLst>
          </p:cNvPr>
          <p:cNvSpPr/>
          <p:nvPr/>
        </p:nvSpPr>
        <p:spPr>
          <a:xfrm>
            <a:off x="3302000" y="4381500"/>
            <a:ext cx="2032000" cy="99060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FFE4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C1C9B92-B2CA-666D-3079-C4DDECB0CE83}"/>
              </a:ext>
            </a:extLst>
          </p:cNvPr>
          <p:cNvSpPr txBox="1"/>
          <p:nvPr/>
        </p:nvSpPr>
        <p:spPr>
          <a:xfrm>
            <a:off x="3454400" y="4533900"/>
            <a:ext cx="17272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Key Goal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479EC93-59F7-5E9A-13BD-FD3DF41C8537}"/>
              </a:ext>
            </a:extLst>
          </p:cNvPr>
          <p:cNvSpPr txBox="1"/>
          <p:nvPr/>
        </p:nvSpPr>
        <p:spPr>
          <a:xfrm>
            <a:off x="3454400" y="4813300"/>
            <a:ext cx="1727200" cy="77970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2200" b="1">
                <a:solidFill>
                  <a:srgbClr val="E11D48"/>
                </a:solidFill>
                <a:latin typeface="Microsoft YaHei" panose="020B0503020204020204" pitchFamily="34" charset="-122"/>
              </a:rPr>
              <a:t>High Recall</a:t>
            </a:r>
            <a:endParaRPr lang="zh-CN" altLang="en-US" sz="2200" b="1">
              <a:solidFill>
                <a:srgbClr val="E11D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54E3E77-9BA0-9FBF-42CD-2A3922592ED9}"/>
              </a:ext>
            </a:extLst>
          </p:cNvPr>
          <p:cNvSpPr/>
          <p:nvPr/>
        </p:nvSpPr>
        <p:spPr>
          <a:xfrm>
            <a:off x="6388100" y="1536700"/>
            <a:ext cx="4699000" cy="323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990E136-4259-B566-3B6A-B45EC5A94A7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00" y="1600200"/>
            <a:ext cx="45720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99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7D38F15-969F-737B-DC0A-2D5142182B78}"/>
              </a:ext>
            </a:extLst>
          </p:cNvPr>
          <p:cNvSpPr txBox="1"/>
          <p:nvPr/>
        </p:nvSpPr>
        <p:spPr>
          <a:xfrm>
            <a:off x="685800" y="381000"/>
            <a:ext cx="9652000" cy="4873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500" b="1">
                <a:solidFill>
                  <a:srgbClr val="0F172A"/>
                </a:solidFill>
                <a:latin typeface="Microsoft YaHei" panose="020B0503020204020204" pitchFamily="34" charset="-122"/>
              </a:rPr>
              <a:t>数据集构建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BF1DF1-47E9-C71B-3E78-85BBC3ECF504}"/>
              </a:ext>
            </a:extLst>
          </p:cNvPr>
          <p:cNvSpPr txBox="1"/>
          <p:nvPr/>
        </p:nvSpPr>
        <p:spPr>
          <a:xfrm>
            <a:off x="711200" y="863600"/>
            <a:ext cx="939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100">
                <a:solidFill>
                  <a:srgbClr val="64748B"/>
                </a:solidFill>
                <a:latin typeface="Microsoft YaHei" panose="020B0503020204020204" pitchFamily="34" charset="-122"/>
              </a:rPr>
              <a:t>使用双城交通时序数据、事故标签、区域映射和空间邻接关系。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62EE9D-44AC-49AC-180A-763719A43A0F}"/>
              </a:ext>
            </a:extLst>
          </p:cNvPr>
          <p:cNvSpPr/>
          <p:nvPr/>
        </p:nvSpPr>
        <p:spPr>
          <a:xfrm>
            <a:off x="711200" y="1257300"/>
            <a:ext cx="10922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3C37319-07D3-98ED-DA7A-34D8724415CC}"/>
              </a:ext>
            </a:extLst>
          </p:cNvPr>
          <p:cNvSpPr txBox="1"/>
          <p:nvPr/>
        </p:nvSpPr>
        <p:spPr>
          <a:xfrm>
            <a:off x="11099800" y="431800"/>
            <a:ext cx="50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64748B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11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027DBE0-5742-E4D1-E8E6-CDEA0A720429}"/>
              </a:ext>
            </a:extLst>
          </p:cNvPr>
          <p:cNvSpPr/>
          <p:nvPr/>
        </p:nvSpPr>
        <p:spPr>
          <a:xfrm>
            <a:off x="6946900" y="1587500"/>
            <a:ext cx="41275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87CE7DB-9269-A87D-39A1-A272F8F1F83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651000"/>
            <a:ext cx="4000500" cy="2667000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D813F15E-00B8-E59F-D239-AB9239FAF9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829841"/>
              </p:ext>
            </p:extLst>
          </p:nvPr>
        </p:nvGraphicFramePr>
        <p:xfrm>
          <a:off x="787400" y="1752600"/>
          <a:ext cx="565150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917">
                  <a:extLst>
                    <a:ext uri="{9D8B030D-6E8A-4147-A177-3AD203B41FA5}">
                      <a16:colId xmlns:a16="http://schemas.microsoft.com/office/drawing/2014/main" val="1791980561"/>
                    </a:ext>
                  </a:extLst>
                </a:gridCol>
                <a:gridCol w="941917">
                  <a:extLst>
                    <a:ext uri="{9D8B030D-6E8A-4147-A177-3AD203B41FA5}">
                      <a16:colId xmlns:a16="http://schemas.microsoft.com/office/drawing/2014/main" val="3416023752"/>
                    </a:ext>
                  </a:extLst>
                </a:gridCol>
                <a:gridCol w="941917">
                  <a:extLst>
                    <a:ext uri="{9D8B030D-6E8A-4147-A177-3AD203B41FA5}">
                      <a16:colId xmlns:a16="http://schemas.microsoft.com/office/drawing/2014/main" val="504369801"/>
                    </a:ext>
                  </a:extLst>
                </a:gridCol>
                <a:gridCol w="941917">
                  <a:extLst>
                    <a:ext uri="{9D8B030D-6E8A-4147-A177-3AD203B41FA5}">
                      <a16:colId xmlns:a16="http://schemas.microsoft.com/office/drawing/2014/main" val="2327910242"/>
                    </a:ext>
                  </a:extLst>
                </a:gridCol>
                <a:gridCol w="941917">
                  <a:extLst>
                    <a:ext uri="{9D8B030D-6E8A-4147-A177-3AD203B41FA5}">
                      <a16:colId xmlns:a16="http://schemas.microsoft.com/office/drawing/2014/main" val="3693865586"/>
                    </a:ext>
                  </a:extLst>
                </a:gridCol>
                <a:gridCol w="941917">
                  <a:extLst>
                    <a:ext uri="{9D8B030D-6E8A-4147-A177-3AD203B41FA5}">
                      <a16:colId xmlns:a16="http://schemas.microsoft.com/office/drawing/2014/main" val="2513241690"/>
                    </a:ext>
                  </a:extLst>
                </a:gridCol>
              </a:tblGrid>
              <a:tr h="440267"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0F172A"/>
                          </a:solidFill>
                          <a:latin typeface="Microsoft YaHei" panose="020B0503020204020204" pitchFamily="34" charset="-122"/>
                        </a:rPr>
                        <a:t>Dataset</a:t>
                      </a:r>
                      <a:endParaRPr lang="zh-CN" altLang="en-US" sz="1000" b="1">
                        <a:solidFill>
                          <a:srgbClr val="0F172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0F172A"/>
                          </a:solidFill>
                          <a:latin typeface="Microsoft YaHei" panose="020B0503020204020204" pitchFamily="34" charset="-122"/>
                        </a:rPr>
                        <a:t>Time</a:t>
                      </a:r>
                      <a:endParaRPr lang="zh-CN" altLang="en-US" sz="1000" b="1">
                        <a:solidFill>
                          <a:srgbClr val="0F172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0F172A"/>
                          </a:solidFill>
                          <a:latin typeface="Microsoft YaHei" panose="020B0503020204020204" pitchFamily="34" charset="-122"/>
                        </a:rPr>
                        <a:t>Regions</a:t>
                      </a:r>
                      <a:endParaRPr lang="zh-CN" altLang="en-US" sz="1000" b="1">
                        <a:solidFill>
                          <a:srgbClr val="0F172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0F172A"/>
                          </a:solidFill>
                          <a:latin typeface="Microsoft YaHei" panose="020B0503020204020204" pitchFamily="34" charset="-122"/>
                        </a:rPr>
                        <a:t>Features</a:t>
                      </a:r>
                      <a:endParaRPr lang="zh-CN" altLang="en-US" sz="1000" b="1">
                        <a:solidFill>
                          <a:srgbClr val="0F172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0F172A"/>
                          </a:solidFill>
                          <a:latin typeface="Microsoft YaHei" panose="020B0503020204020204" pitchFamily="34" charset="-122"/>
                        </a:rPr>
                        <a:t>Samples</a:t>
                      </a:r>
                      <a:endParaRPr lang="zh-CN" altLang="en-US" sz="1000" b="1">
                        <a:solidFill>
                          <a:srgbClr val="0F172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0F172A"/>
                          </a:solidFill>
                          <a:latin typeface="Microsoft YaHei" panose="020B0503020204020204" pitchFamily="34" charset="-122"/>
                        </a:rPr>
                        <a:t>Positive</a:t>
                      </a:r>
                      <a:endParaRPr lang="zh-CN" altLang="en-US" sz="1000" b="1">
                        <a:solidFill>
                          <a:srgbClr val="0F172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174498"/>
                  </a:ext>
                </a:extLst>
              </a:tr>
              <a:tr h="440267"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NYC</a:t>
                      </a:r>
                      <a:endParaRPr lang="zh-CN" altLang="en-US" sz="10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13,128</a:t>
                      </a:r>
                      <a:endParaRPr lang="zh-CN" altLang="en-US" sz="10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10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116</a:t>
                      </a:r>
                      <a:endParaRPr lang="zh-CN" altLang="en-US" sz="10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840,192</a:t>
                      </a:r>
                      <a:endParaRPr lang="zh-CN" altLang="en-US" sz="10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22.53%</a:t>
                      </a:r>
                      <a:endParaRPr lang="zh-CN" altLang="en-US" sz="10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723044"/>
                  </a:ext>
                </a:extLst>
              </a:tr>
              <a:tr h="440267"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Chicago</a:t>
                      </a:r>
                      <a:endParaRPr lang="zh-CN" altLang="en-US" sz="10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8,784</a:t>
                      </a:r>
                      <a:endParaRPr lang="zh-CN" altLang="en-US" sz="10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27</a:t>
                      </a:r>
                      <a:endParaRPr lang="zh-CN" altLang="en-US" sz="10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116</a:t>
                      </a:r>
                      <a:endParaRPr lang="zh-CN" altLang="en-US" sz="10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237,168</a:t>
                      </a:r>
                      <a:endParaRPr lang="zh-CN" altLang="en-US" sz="10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13.38%</a:t>
                      </a:r>
                      <a:endParaRPr lang="zh-CN" altLang="en-US" sz="10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820327"/>
                  </a:ext>
                </a:extLst>
              </a:tr>
            </a:tbl>
          </a:graphicData>
        </a:graphic>
      </p:graphicFrame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7E83E97-EBD3-D3B6-A79A-E52449A96A21}"/>
              </a:ext>
            </a:extLst>
          </p:cNvPr>
          <p:cNvSpPr/>
          <p:nvPr/>
        </p:nvSpPr>
        <p:spPr>
          <a:xfrm>
            <a:off x="787400" y="3556000"/>
            <a:ext cx="56515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E7A0E02-CF76-64D5-2B2E-A5DC02C6F2E8}"/>
              </a:ext>
            </a:extLst>
          </p:cNvPr>
          <p:cNvSpPr txBox="1"/>
          <p:nvPr/>
        </p:nvSpPr>
        <p:spPr>
          <a:xfrm>
            <a:off x="1016000" y="3810000"/>
            <a:ext cx="5207000" cy="99514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</a:rPr>
              <a:t>输入结构：</a:t>
            </a: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</a:rPr>
              <a:t>time × region × feature
• 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</a:rPr>
              <a:t>标签表示对应区域和时间片是否存在风险
</a:t>
            </a: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</a:rPr>
              <a:t>• road / poi / record 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</a:rPr>
              <a:t>描述空间邻接关系</a:t>
            </a:r>
          </a:p>
        </p:txBody>
      </p:sp>
    </p:spTree>
    <p:extLst>
      <p:ext uri="{BB962C8B-B14F-4D97-AF65-F5344CB8AC3E}">
        <p14:creationId xmlns:p14="http://schemas.microsoft.com/office/powerpoint/2010/main" val="82579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B2AF76C-2154-84BE-0E82-6109C06C68C8}"/>
              </a:ext>
            </a:extLst>
          </p:cNvPr>
          <p:cNvSpPr txBox="1"/>
          <p:nvPr/>
        </p:nvSpPr>
        <p:spPr>
          <a:xfrm>
            <a:off x="685800" y="381000"/>
            <a:ext cx="9652000" cy="4873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500" b="1">
                <a:solidFill>
                  <a:srgbClr val="0F172A"/>
                </a:solidFill>
                <a:latin typeface="Microsoft YaHei" panose="020B0503020204020204" pitchFamily="34" charset="-122"/>
              </a:rPr>
              <a:t>技术路线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08B961-B974-D01E-E35A-B259AF90D47E}"/>
              </a:ext>
            </a:extLst>
          </p:cNvPr>
          <p:cNvSpPr txBox="1"/>
          <p:nvPr/>
        </p:nvSpPr>
        <p:spPr>
          <a:xfrm>
            <a:off x="711200" y="863600"/>
            <a:ext cx="939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100">
                <a:solidFill>
                  <a:srgbClr val="64748B"/>
                </a:solidFill>
                <a:latin typeface="Microsoft YaHei" panose="020B0503020204020204" pitchFamily="34" charset="-122"/>
              </a:rPr>
              <a:t>数据构建、模型训练、实验评估、结果导出和前端展示形成闭环。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6B8D31-AE32-C706-8878-6D599DA0D822}"/>
              </a:ext>
            </a:extLst>
          </p:cNvPr>
          <p:cNvSpPr/>
          <p:nvPr/>
        </p:nvSpPr>
        <p:spPr>
          <a:xfrm>
            <a:off x="711200" y="1257300"/>
            <a:ext cx="10922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E04644-63DD-B199-1BFC-AE0E23BF8E82}"/>
              </a:ext>
            </a:extLst>
          </p:cNvPr>
          <p:cNvSpPr txBox="1"/>
          <p:nvPr/>
        </p:nvSpPr>
        <p:spPr>
          <a:xfrm>
            <a:off x="11099800" y="431800"/>
            <a:ext cx="50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64748B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11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BE5734B-A761-9032-B63F-D29BD80FCD1B}"/>
              </a:ext>
            </a:extLst>
          </p:cNvPr>
          <p:cNvSpPr/>
          <p:nvPr/>
        </p:nvSpPr>
        <p:spPr>
          <a:xfrm>
            <a:off x="965200" y="2540000"/>
            <a:ext cx="1574800" cy="9906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A3214D-61F8-20D3-E0E9-66D2DECA7541}"/>
              </a:ext>
            </a:extLst>
          </p:cNvPr>
          <p:cNvSpPr txBox="1"/>
          <p:nvPr/>
        </p:nvSpPr>
        <p:spPr>
          <a:xfrm>
            <a:off x="965200" y="2857500"/>
            <a:ext cx="15748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b="1">
                <a:solidFill>
                  <a:srgbClr val="2563EB"/>
                </a:solidFill>
                <a:latin typeface="Microsoft YaHei" panose="020B0503020204020204" pitchFamily="34" charset="-122"/>
              </a:rPr>
              <a:t>Data</a:t>
            </a:r>
            <a:endParaRPr lang="zh-CN" altLang="en-US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F7B692-B07A-33E4-6D2C-023839245B20}"/>
              </a:ext>
            </a:extLst>
          </p:cNvPr>
          <p:cNvSpPr txBox="1"/>
          <p:nvPr/>
        </p:nvSpPr>
        <p:spPr>
          <a:xfrm>
            <a:off x="2565400" y="2819400"/>
            <a:ext cx="431800" cy="47192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2400" b="1">
                <a:solidFill>
                  <a:srgbClr val="64748B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19D396D-7B74-2F74-F4A3-1BEAC07FB09A}"/>
              </a:ext>
            </a:extLst>
          </p:cNvPr>
          <p:cNvSpPr/>
          <p:nvPr/>
        </p:nvSpPr>
        <p:spPr>
          <a:xfrm>
            <a:off x="3073400" y="2540000"/>
            <a:ext cx="1574800" cy="990600"/>
          </a:xfrm>
          <a:prstGeom prst="roundRect">
            <a:avLst/>
          </a:prstGeom>
          <a:solidFill>
            <a:srgbClr val="CFFAFE"/>
          </a:solidFill>
          <a:ln w="12700">
            <a:solidFill>
              <a:srgbClr val="CFF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FE4A592-F275-AAB9-48F8-48223459EE59}"/>
              </a:ext>
            </a:extLst>
          </p:cNvPr>
          <p:cNvSpPr txBox="1"/>
          <p:nvPr/>
        </p:nvSpPr>
        <p:spPr>
          <a:xfrm>
            <a:off x="3073400" y="2857500"/>
            <a:ext cx="15748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b="1">
                <a:solidFill>
                  <a:srgbClr val="0891B2"/>
                </a:solidFill>
                <a:latin typeface="Microsoft YaHei" panose="020B0503020204020204" pitchFamily="34" charset="-122"/>
              </a:rPr>
              <a:t>Model</a:t>
            </a:r>
            <a:endParaRPr lang="zh-CN" altLang="en-US" b="1">
              <a:solidFill>
                <a:srgbClr val="0891B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04B3DA-FD1B-B9A9-5DAD-C88BBFD12704}"/>
              </a:ext>
            </a:extLst>
          </p:cNvPr>
          <p:cNvSpPr txBox="1"/>
          <p:nvPr/>
        </p:nvSpPr>
        <p:spPr>
          <a:xfrm>
            <a:off x="4673600" y="2819400"/>
            <a:ext cx="431800" cy="47192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2400" b="1">
                <a:solidFill>
                  <a:srgbClr val="64748B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E306C11-B3A0-ED1E-EB1C-FD1B27E0554F}"/>
              </a:ext>
            </a:extLst>
          </p:cNvPr>
          <p:cNvSpPr/>
          <p:nvPr/>
        </p:nvSpPr>
        <p:spPr>
          <a:xfrm>
            <a:off x="5181600" y="2540000"/>
            <a:ext cx="1574800" cy="9906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DD61F6-4F9C-2E27-D790-4A4880DAC09B}"/>
              </a:ext>
            </a:extLst>
          </p:cNvPr>
          <p:cNvSpPr txBox="1"/>
          <p:nvPr/>
        </p:nvSpPr>
        <p:spPr>
          <a:xfrm>
            <a:off x="5181600" y="2857500"/>
            <a:ext cx="15748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b="1">
                <a:solidFill>
                  <a:srgbClr val="D97706"/>
                </a:solidFill>
                <a:latin typeface="Microsoft YaHei" panose="020B0503020204020204" pitchFamily="34" charset="-122"/>
              </a:rPr>
              <a:t>Evaluate</a:t>
            </a:r>
            <a:endParaRPr lang="zh-CN" altLang="en-US" b="1">
              <a:solidFill>
                <a:srgbClr val="D9770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1274323-7597-AA31-C48A-A470CFAE259E}"/>
              </a:ext>
            </a:extLst>
          </p:cNvPr>
          <p:cNvSpPr txBox="1"/>
          <p:nvPr/>
        </p:nvSpPr>
        <p:spPr>
          <a:xfrm>
            <a:off x="6781800" y="2819400"/>
            <a:ext cx="431800" cy="47192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2400" b="1">
                <a:solidFill>
                  <a:srgbClr val="64748B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2DDB962-BF9A-1B4B-4797-51631070D4FD}"/>
              </a:ext>
            </a:extLst>
          </p:cNvPr>
          <p:cNvSpPr/>
          <p:nvPr/>
        </p:nvSpPr>
        <p:spPr>
          <a:xfrm>
            <a:off x="7289800" y="2540000"/>
            <a:ext cx="1574800" cy="9906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5A9F7C9-5068-B296-1841-FF6F6DCCD1BC}"/>
              </a:ext>
            </a:extLst>
          </p:cNvPr>
          <p:cNvSpPr txBox="1"/>
          <p:nvPr/>
        </p:nvSpPr>
        <p:spPr>
          <a:xfrm>
            <a:off x="7289800" y="2857500"/>
            <a:ext cx="15748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b="1">
                <a:solidFill>
                  <a:srgbClr val="16A34A"/>
                </a:solidFill>
                <a:latin typeface="Microsoft YaHei" panose="020B0503020204020204" pitchFamily="34" charset="-122"/>
              </a:rPr>
              <a:t>Export</a:t>
            </a:r>
            <a:endParaRPr lang="zh-CN" altLang="en-US" b="1">
              <a:solidFill>
                <a:srgbClr val="16A34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BCD30E-406D-624E-242F-7DC04C00CABB}"/>
              </a:ext>
            </a:extLst>
          </p:cNvPr>
          <p:cNvSpPr txBox="1"/>
          <p:nvPr/>
        </p:nvSpPr>
        <p:spPr>
          <a:xfrm>
            <a:off x="8890000" y="2819400"/>
            <a:ext cx="431800" cy="47192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2400" b="1">
                <a:solidFill>
                  <a:srgbClr val="64748B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AC08EEF-B068-4272-9FD3-2BA1A4C30184}"/>
              </a:ext>
            </a:extLst>
          </p:cNvPr>
          <p:cNvSpPr/>
          <p:nvPr/>
        </p:nvSpPr>
        <p:spPr>
          <a:xfrm>
            <a:off x="9398000" y="2540000"/>
            <a:ext cx="1574800" cy="990600"/>
          </a:xfrm>
          <a:prstGeom prst="roundRect">
            <a:avLst/>
          </a:prstGeom>
          <a:solidFill>
            <a:srgbClr val="FFE4E6"/>
          </a:solidFill>
          <a:ln w="12700">
            <a:solidFill>
              <a:srgbClr val="FFE4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C2E52E4-2D05-99C0-E073-45279D9257A1}"/>
              </a:ext>
            </a:extLst>
          </p:cNvPr>
          <p:cNvSpPr txBox="1"/>
          <p:nvPr/>
        </p:nvSpPr>
        <p:spPr>
          <a:xfrm>
            <a:off x="9398000" y="2857500"/>
            <a:ext cx="15748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b="1">
                <a:solidFill>
                  <a:srgbClr val="E11D48"/>
                </a:solidFill>
                <a:latin typeface="Microsoft YaHei" panose="020B0503020204020204" pitchFamily="34" charset="-122"/>
              </a:rPr>
              <a:t>Dashboard</a:t>
            </a:r>
            <a:endParaRPr lang="zh-CN" altLang="en-US" b="1">
              <a:solidFill>
                <a:srgbClr val="E11D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949252F-EB3A-0F68-A649-51592896CFA1}"/>
              </a:ext>
            </a:extLst>
          </p:cNvPr>
          <p:cNvSpPr/>
          <p:nvPr/>
        </p:nvSpPr>
        <p:spPr>
          <a:xfrm>
            <a:off x="1498600" y="4191000"/>
            <a:ext cx="91948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ECCC46-566B-AAA6-F30B-DA84D439AFEB}"/>
              </a:ext>
            </a:extLst>
          </p:cNvPr>
          <p:cNvSpPr txBox="1"/>
          <p:nvPr/>
        </p:nvSpPr>
        <p:spPr>
          <a:xfrm>
            <a:off x="1841500" y="4470400"/>
            <a:ext cx="8636000" cy="67197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</a:rPr>
              <a:t>后端完成完整训练和实验评估，前端加载导出的 </a:t>
            </a: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</a:rPr>
              <a:t>JSON 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</a:rPr>
              <a:t>样本
</a:t>
            </a: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</a:rPr>
              <a:t>可视化系统展示风险概率、标签校验和空间解释</a:t>
            </a:r>
          </a:p>
        </p:txBody>
      </p:sp>
    </p:spTree>
    <p:extLst>
      <p:ext uri="{BB962C8B-B14F-4D97-AF65-F5344CB8AC3E}">
        <p14:creationId xmlns:p14="http://schemas.microsoft.com/office/powerpoint/2010/main" val="3262334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FCD149B-6055-B764-19D0-A4A9BE8AB676}"/>
              </a:ext>
            </a:extLst>
          </p:cNvPr>
          <p:cNvSpPr txBox="1"/>
          <p:nvPr/>
        </p:nvSpPr>
        <p:spPr>
          <a:xfrm>
            <a:off x="685800" y="381000"/>
            <a:ext cx="9652000" cy="4873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5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模型结构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040CA7-1C47-C0E6-38DC-609317C6A484}"/>
              </a:ext>
            </a:extLst>
          </p:cNvPr>
          <p:cNvSpPr txBox="1"/>
          <p:nvPr/>
        </p:nvSpPr>
        <p:spPr>
          <a:xfrm>
            <a:off x="711200" y="863600"/>
            <a:ext cx="939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100">
                <a:solidFill>
                  <a:srgbClr val="64748B"/>
                </a:solidFill>
                <a:latin typeface="Microsoft YaHei" panose="020B0503020204020204" pitchFamily="34" charset="-122"/>
              </a:rPr>
              <a:t>Attention-LSTM </a:t>
            </a:r>
            <a:r>
              <a:rPr lang="zh-CN" altLang="en-US" sz="1100">
                <a:solidFill>
                  <a:srgbClr val="64748B"/>
                </a:solidFill>
                <a:latin typeface="Microsoft YaHei" panose="020B0503020204020204" pitchFamily="34" charset="-122"/>
              </a:rPr>
              <a:t>用于建模交通风险的时间依赖和关键特征。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5CC7CC-9941-FC8F-EA96-6E289F0C7929}"/>
              </a:ext>
            </a:extLst>
          </p:cNvPr>
          <p:cNvSpPr/>
          <p:nvPr/>
        </p:nvSpPr>
        <p:spPr>
          <a:xfrm>
            <a:off x="711200" y="1257300"/>
            <a:ext cx="10922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FE0F5E-8C38-3E58-0737-012BB1E88116}"/>
              </a:ext>
            </a:extLst>
          </p:cNvPr>
          <p:cNvSpPr txBox="1"/>
          <p:nvPr/>
        </p:nvSpPr>
        <p:spPr>
          <a:xfrm>
            <a:off x="11099800" y="431800"/>
            <a:ext cx="50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64748B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1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D230D4E-804E-E90E-1836-C55430678D9D}"/>
              </a:ext>
            </a:extLst>
          </p:cNvPr>
          <p:cNvSpPr/>
          <p:nvPr/>
        </p:nvSpPr>
        <p:spPr>
          <a:xfrm>
            <a:off x="876300" y="1524000"/>
            <a:ext cx="10439400" cy="361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6D301DF-3CE3-5DCC-4C24-F69D1DE7340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" y="1587500"/>
            <a:ext cx="10312400" cy="34925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A6BBC84-7D1A-44AD-964B-6776CF602997}"/>
              </a:ext>
            </a:extLst>
          </p:cNvPr>
          <p:cNvSpPr txBox="1"/>
          <p:nvPr/>
        </p:nvSpPr>
        <p:spPr>
          <a:xfrm>
            <a:off x="1397000" y="5384800"/>
            <a:ext cx="9144000" cy="67197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</a:rPr>
              <a:t>• Attention 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</a:rPr>
              <a:t>模块突出关键时间片和区域特征
</a:t>
            </a: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</a:rPr>
              <a:t>• LSTM 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</a:rPr>
              <a:t>编码历史交通状态变化，输出风险概率</a:t>
            </a:r>
          </a:p>
        </p:txBody>
      </p:sp>
    </p:spTree>
    <p:extLst>
      <p:ext uri="{BB962C8B-B14F-4D97-AF65-F5344CB8AC3E}">
        <p14:creationId xmlns:p14="http://schemas.microsoft.com/office/powerpoint/2010/main" val="987863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58367BA-664D-FCB1-CAD2-8AC40F85431B}"/>
              </a:ext>
            </a:extLst>
          </p:cNvPr>
          <p:cNvSpPr txBox="1"/>
          <p:nvPr/>
        </p:nvSpPr>
        <p:spPr>
          <a:xfrm>
            <a:off x="685800" y="381000"/>
            <a:ext cx="9652000" cy="4873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5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模型优化与后处理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0EEFE9-95B9-F5D4-AB0C-9DBDB76FBB67}"/>
              </a:ext>
            </a:extLst>
          </p:cNvPr>
          <p:cNvSpPr txBox="1"/>
          <p:nvPr/>
        </p:nvSpPr>
        <p:spPr>
          <a:xfrm>
            <a:off x="711200" y="863600"/>
            <a:ext cx="939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100">
                <a:solidFill>
                  <a:srgbClr val="64748B"/>
                </a:solidFill>
                <a:latin typeface="Microsoft YaHei" panose="020B0503020204020204" pitchFamily="34" charset="-122"/>
              </a:rPr>
              <a:t>平滑门和流式后处理用于提升预测结果稳定性。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9A0409B-E550-EB8B-B297-EC80B368C21A}"/>
              </a:ext>
            </a:extLst>
          </p:cNvPr>
          <p:cNvSpPr/>
          <p:nvPr/>
        </p:nvSpPr>
        <p:spPr>
          <a:xfrm>
            <a:off x="711200" y="1257300"/>
            <a:ext cx="10922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CEE03D-86DC-BE65-68A7-730EADE1055F}"/>
              </a:ext>
            </a:extLst>
          </p:cNvPr>
          <p:cNvSpPr txBox="1"/>
          <p:nvPr/>
        </p:nvSpPr>
        <p:spPr>
          <a:xfrm>
            <a:off x="11099800" y="431800"/>
            <a:ext cx="50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64748B"/>
                </a:solidFill>
                <a:latin typeface="Microsoft YaHei" panose="020B0503020204020204" pitchFamily="34" charset="-122"/>
              </a:rPr>
              <a:t>06</a:t>
            </a:r>
            <a:endParaRPr lang="zh-CN" altLang="en-US" sz="11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06D01AE-8980-E8C5-A8CC-B469A0359544}"/>
              </a:ext>
            </a:extLst>
          </p:cNvPr>
          <p:cNvSpPr/>
          <p:nvPr/>
        </p:nvSpPr>
        <p:spPr>
          <a:xfrm>
            <a:off x="787400" y="1625600"/>
            <a:ext cx="5080000" cy="3124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1443B4-E91B-1AEC-B33C-0427CD78CFA6}"/>
              </a:ext>
            </a:extLst>
          </p:cNvPr>
          <p:cNvSpPr txBox="1"/>
          <p:nvPr/>
        </p:nvSpPr>
        <p:spPr>
          <a:xfrm>
            <a:off x="1079500" y="2006600"/>
            <a:ext cx="4445000" cy="171841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E293B"/>
                </a:solidFill>
                <a:latin typeface="Microsoft YaHei" panose="020B0503020204020204" pitchFamily="34" charset="-122"/>
              </a:rPr>
              <a:t>平滑门减少相邻时间片预测抖动
</a:t>
            </a:r>
            <a:r>
              <a:rPr lang="en-US" altLang="zh-CN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E293B"/>
                </a:solidFill>
                <a:latin typeface="Microsoft YaHei" panose="020B0503020204020204" pitchFamily="34" charset="-122"/>
              </a:rPr>
              <a:t>流式后处理增强连续输出稳定性
</a:t>
            </a:r>
            <a:r>
              <a:rPr lang="en-US" altLang="zh-CN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E293B"/>
                </a:solidFill>
                <a:latin typeface="Microsoft YaHei" panose="020B0503020204020204" pitchFamily="34" charset="-122"/>
              </a:rPr>
              <a:t>预警系统更关注高风险样本召回
</a:t>
            </a:r>
            <a:r>
              <a:rPr lang="en-US" altLang="zh-CN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E293B"/>
                </a:solidFill>
                <a:latin typeface="Microsoft YaHei" panose="020B0503020204020204" pitchFamily="34" charset="-122"/>
              </a:rPr>
              <a:t>目标是在召回能力和稳定性之间取得平衡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764BD00-956F-05EF-6161-C3E6BD48BFE6}"/>
              </a:ext>
            </a:extLst>
          </p:cNvPr>
          <p:cNvSpPr/>
          <p:nvPr/>
        </p:nvSpPr>
        <p:spPr>
          <a:xfrm>
            <a:off x="1117600" y="4953000"/>
            <a:ext cx="1968500" cy="9906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62B610-0DDB-EBC1-F402-83303E59EA0A}"/>
              </a:ext>
            </a:extLst>
          </p:cNvPr>
          <p:cNvSpPr txBox="1"/>
          <p:nvPr/>
        </p:nvSpPr>
        <p:spPr>
          <a:xfrm>
            <a:off x="1270000" y="5105400"/>
            <a:ext cx="16637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NYC Recall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BB56AAD-E927-7375-F44F-768EFB65542C}"/>
              </a:ext>
            </a:extLst>
          </p:cNvPr>
          <p:cNvSpPr txBox="1"/>
          <p:nvPr/>
        </p:nvSpPr>
        <p:spPr>
          <a:xfrm>
            <a:off x="1270000" y="5384800"/>
            <a:ext cx="16637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2200" b="1">
                <a:solidFill>
                  <a:srgbClr val="16A34A"/>
                </a:solidFill>
                <a:latin typeface="Microsoft YaHei" panose="020B0503020204020204" pitchFamily="34" charset="-122"/>
              </a:rPr>
              <a:t>0.8265</a:t>
            </a:r>
            <a:endParaRPr lang="zh-CN" altLang="en-US" sz="2200" b="1">
              <a:solidFill>
                <a:srgbClr val="16A34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814A0C5-0E5F-444F-F8FF-0E65CD2EA3DB}"/>
              </a:ext>
            </a:extLst>
          </p:cNvPr>
          <p:cNvSpPr/>
          <p:nvPr/>
        </p:nvSpPr>
        <p:spPr>
          <a:xfrm>
            <a:off x="3429000" y="4953000"/>
            <a:ext cx="2159000" cy="9906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941B0CC-A5D1-8FF3-29D9-8CECF89DA920}"/>
              </a:ext>
            </a:extLst>
          </p:cNvPr>
          <p:cNvSpPr txBox="1"/>
          <p:nvPr/>
        </p:nvSpPr>
        <p:spPr>
          <a:xfrm>
            <a:off x="3581400" y="5105400"/>
            <a:ext cx="18542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Chicago Recall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95CD46-0012-89F8-567F-7AB4D5C0917A}"/>
              </a:ext>
            </a:extLst>
          </p:cNvPr>
          <p:cNvSpPr txBox="1"/>
          <p:nvPr/>
        </p:nvSpPr>
        <p:spPr>
          <a:xfrm>
            <a:off x="3581400" y="5384800"/>
            <a:ext cx="18542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2200" b="1">
                <a:solidFill>
                  <a:srgbClr val="16A34A"/>
                </a:solidFill>
                <a:latin typeface="Microsoft YaHei" panose="020B0503020204020204" pitchFamily="34" charset="-122"/>
              </a:rPr>
              <a:t>0.7055</a:t>
            </a:r>
            <a:endParaRPr lang="zh-CN" altLang="en-US" sz="2200" b="1">
              <a:solidFill>
                <a:srgbClr val="16A34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98A2D01-F316-47F1-531D-B52FB2FDD3AC}"/>
              </a:ext>
            </a:extLst>
          </p:cNvPr>
          <p:cNvSpPr/>
          <p:nvPr/>
        </p:nvSpPr>
        <p:spPr>
          <a:xfrm>
            <a:off x="6540500" y="1651000"/>
            <a:ext cx="4318000" cy="294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A23982B-9C4D-A413-7CBE-CFA0FA5B860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1714500"/>
            <a:ext cx="41910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753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363E529-C52B-2054-2914-5CA1DB9B3121}"/>
              </a:ext>
            </a:extLst>
          </p:cNvPr>
          <p:cNvSpPr txBox="1"/>
          <p:nvPr/>
        </p:nvSpPr>
        <p:spPr>
          <a:xfrm>
            <a:off x="685800" y="381000"/>
            <a:ext cx="9652000" cy="4873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500" b="1">
                <a:solidFill>
                  <a:srgbClr val="0F172A"/>
                </a:solidFill>
                <a:latin typeface="Microsoft YaHei" panose="020B0503020204020204" pitchFamily="34" charset="-122"/>
              </a:rPr>
              <a:t>实验设计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97ADDF-A092-3C09-DA57-30968AD41273}"/>
              </a:ext>
            </a:extLst>
          </p:cNvPr>
          <p:cNvSpPr txBox="1"/>
          <p:nvPr/>
        </p:nvSpPr>
        <p:spPr>
          <a:xfrm>
            <a:off x="711200" y="863600"/>
            <a:ext cx="939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100">
                <a:solidFill>
                  <a:srgbClr val="64748B"/>
                </a:solidFill>
                <a:latin typeface="Microsoft YaHei" panose="020B0503020204020204" pitchFamily="34" charset="-122"/>
              </a:rPr>
              <a:t>多模型对比和多指标评估验证模型有效性。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7D7FF7-3A3A-3A55-6350-AF16337F0BA9}"/>
              </a:ext>
            </a:extLst>
          </p:cNvPr>
          <p:cNvSpPr/>
          <p:nvPr/>
        </p:nvSpPr>
        <p:spPr>
          <a:xfrm>
            <a:off x="711200" y="1257300"/>
            <a:ext cx="10922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DC885CB-A2F8-24A5-42A3-EB1F8673A2C8}"/>
              </a:ext>
            </a:extLst>
          </p:cNvPr>
          <p:cNvSpPr txBox="1"/>
          <p:nvPr/>
        </p:nvSpPr>
        <p:spPr>
          <a:xfrm>
            <a:off x="11099800" y="431800"/>
            <a:ext cx="50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64748B"/>
                </a:solidFill>
                <a:latin typeface="Microsoft YaHei" panose="020B0503020204020204" pitchFamily="34" charset="-122"/>
              </a:rPr>
              <a:t>07</a:t>
            </a:r>
            <a:endParaRPr lang="zh-CN" altLang="en-US" sz="11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7C5DFB3-5181-6275-2C8A-23F7744B9DC7}"/>
              </a:ext>
            </a:extLst>
          </p:cNvPr>
          <p:cNvSpPr/>
          <p:nvPr/>
        </p:nvSpPr>
        <p:spPr>
          <a:xfrm>
            <a:off x="6794500" y="1587500"/>
            <a:ext cx="41910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B179CB7-02CD-E477-510B-60A1D9BF1E1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651000"/>
            <a:ext cx="4064000" cy="2984500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EF0DD09C-1572-3327-0697-1DC3A4B87850}"/>
              </a:ext>
            </a:extLst>
          </p:cNvPr>
          <p:cNvSpPr/>
          <p:nvPr/>
        </p:nvSpPr>
        <p:spPr>
          <a:xfrm>
            <a:off x="787400" y="1625600"/>
            <a:ext cx="5334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A84FE23-9F31-1FF5-3904-B6A5FD6DFA8F}"/>
              </a:ext>
            </a:extLst>
          </p:cNvPr>
          <p:cNvSpPr txBox="1"/>
          <p:nvPr/>
        </p:nvSpPr>
        <p:spPr>
          <a:xfrm>
            <a:off x="1066800" y="2006600"/>
            <a:ext cx="4826000" cy="216469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深度模型：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GSNet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STG2Seq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ConvLSTM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LSTM
•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传统模型：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LightGBM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XGBoost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LR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ARIMA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HA
•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评价指标：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AUC-PR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AUC-ROC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F1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Accuracy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Recall
•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类别不平衡下重点关注 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AUC-PR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Recall</a:t>
            </a:r>
            <a:endParaRPr lang="zh-CN" altLang="en-US" sz="1700">
              <a:solidFill>
                <a:srgbClr val="1E293B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4885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D984B90-3B0D-0CFB-8442-D39C9D6A8748}"/>
              </a:ext>
            </a:extLst>
          </p:cNvPr>
          <p:cNvSpPr txBox="1"/>
          <p:nvPr/>
        </p:nvSpPr>
        <p:spPr>
          <a:xfrm>
            <a:off x="685800" y="381000"/>
            <a:ext cx="9652000" cy="4873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500" b="1">
                <a:solidFill>
                  <a:srgbClr val="0F172A"/>
                </a:solidFill>
                <a:latin typeface="Microsoft YaHei" panose="020B0503020204020204" pitchFamily="34" charset="-122"/>
              </a:rPr>
              <a:t>实验结果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0045DD-2C55-8F31-F54B-EF0384C769E3}"/>
              </a:ext>
            </a:extLst>
          </p:cNvPr>
          <p:cNvSpPr txBox="1"/>
          <p:nvPr/>
        </p:nvSpPr>
        <p:spPr>
          <a:xfrm>
            <a:off x="711200" y="863600"/>
            <a:ext cx="939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100">
                <a:solidFill>
                  <a:srgbClr val="64748B"/>
                </a:solidFill>
                <a:latin typeface="Microsoft YaHei" panose="020B0503020204020204" pitchFamily="34" charset="-122"/>
              </a:rPr>
              <a:t>本文模型在双城数据集上取得较好的综合表现。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00A7D2-5503-F402-0989-0711725FF1B8}"/>
              </a:ext>
            </a:extLst>
          </p:cNvPr>
          <p:cNvSpPr/>
          <p:nvPr/>
        </p:nvSpPr>
        <p:spPr>
          <a:xfrm>
            <a:off x="711200" y="1257300"/>
            <a:ext cx="10922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E3461F-0B08-4881-FC3B-8056E5DBC9EC}"/>
              </a:ext>
            </a:extLst>
          </p:cNvPr>
          <p:cNvSpPr txBox="1"/>
          <p:nvPr/>
        </p:nvSpPr>
        <p:spPr>
          <a:xfrm>
            <a:off x="11099800" y="431800"/>
            <a:ext cx="50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64748B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11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36A930C-DBFF-1F79-048B-755452F1D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873305"/>
              </p:ext>
            </p:extLst>
          </p:nvPr>
        </p:nvGraphicFramePr>
        <p:xfrm>
          <a:off x="1079500" y="1778000"/>
          <a:ext cx="10033000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2167">
                  <a:extLst>
                    <a:ext uri="{9D8B030D-6E8A-4147-A177-3AD203B41FA5}">
                      <a16:colId xmlns:a16="http://schemas.microsoft.com/office/drawing/2014/main" val="3709096195"/>
                    </a:ext>
                  </a:extLst>
                </a:gridCol>
                <a:gridCol w="1672167">
                  <a:extLst>
                    <a:ext uri="{9D8B030D-6E8A-4147-A177-3AD203B41FA5}">
                      <a16:colId xmlns:a16="http://schemas.microsoft.com/office/drawing/2014/main" val="3399011669"/>
                    </a:ext>
                  </a:extLst>
                </a:gridCol>
                <a:gridCol w="1672167">
                  <a:extLst>
                    <a:ext uri="{9D8B030D-6E8A-4147-A177-3AD203B41FA5}">
                      <a16:colId xmlns:a16="http://schemas.microsoft.com/office/drawing/2014/main" val="4292241916"/>
                    </a:ext>
                  </a:extLst>
                </a:gridCol>
                <a:gridCol w="1672167">
                  <a:extLst>
                    <a:ext uri="{9D8B030D-6E8A-4147-A177-3AD203B41FA5}">
                      <a16:colId xmlns:a16="http://schemas.microsoft.com/office/drawing/2014/main" val="4088178118"/>
                    </a:ext>
                  </a:extLst>
                </a:gridCol>
                <a:gridCol w="1672167">
                  <a:extLst>
                    <a:ext uri="{9D8B030D-6E8A-4147-A177-3AD203B41FA5}">
                      <a16:colId xmlns:a16="http://schemas.microsoft.com/office/drawing/2014/main" val="3449482403"/>
                    </a:ext>
                  </a:extLst>
                </a:gridCol>
                <a:gridCol w="1672167">
                  <a:extLst>
                    <a:ext uri="{9D8B030D-6E8A-4147-A177-3AD203B41FA5}">
                      <a16:colId xmlns:a16="http://schemas.microsoft.com/office/drawing/2014/main" val="2874383816"/>
                    </a:ext>
                  </a:extLst>
                </a:gridCol>
              </a:tblGrid>
              <a:tr h="491067"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0F172A"/>
                          </a:solidFill>
                          <a:latin typeface="Microsoft YaHei" panose="020B0503020204020204" pitchFamily="34" charset="-122"/>
                        </a:rPr>
                        <a:t>Dataset</a:t>
                      </a:r>
                      <a:endParaRPr lang="zh-CN" altLang="en-US" sz="1300" b="1">
                        <a:solidFill>
                          <a:srgbClr val="0F172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0F172A"/>
                          </a:solidFill>
                          <a:latin typeface="Microsoft YaHei" panose="020B0503020204020204" pitchFamily="34" charset="-122"/>
                        </a:rPr>
                        <a:t>AUC-PR</a:t>
                      </a:r>
                      <a:endParaRPr lang="zh-CN" altLang="en-US" sz="1300" b="1">
                        <a:solidFill>
                          <a:srgbClr val="0F172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0F172A"/>
                          </a:solidFill>
                          <a:latin typeface="Microsoft YaHei" panose="020B0503020204020204" pitchFamily="34" charset="-122"/>
                        </a:rPr>
                        <a:t>AUC-ROC</a:t>
                      </a:r>
                      <a:endParaRPr lang="zh-CN" altLang="en-US" sz="1300" b="1">
                        <a:solidFill>
                          <a:srgbClr val="0F172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0F172A"/>
                          </a:solidFill>
                          <a:latin typeface="Microsoft YaHei" panose="020B0503020204020204" pitchFamily="34" charset="-122"/>
                        </a:rPr>
                        <a:t>F1</a:t>
                      </a:r>
                      <a:endParaRPr lang="zh-CN" altLang="en-US" sz="1300" b="1">
                        <a:solidFill>
                          <a:srgbClr val="0F172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0F172A"/>
                          </a:solidFill>
                          <a:latin typeface="Microsoft YaHei" panose="020B0503020204020204" pitchFamily="34" charset="-122"/>
                        </a:rPr>
                        <a:t>Accuracy</a:t>
                      </a:r>
                      <a:endParaRPr lang="zh-CN" altLang="en-US" sz="1300" b="1">
                        <a:solidFill>
                          <a:srgbClr val="0F172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0F172A"/>
                          </a:solidFill>
                          <a:latin typeface="Microsoft YaHei" panose="020B0503020204020204" pitchFamily="34" charset="-122"/>
                        </a:rPr>
                        <a:t>Recall</a:t>
                      </a:r>
                      <a:endParaRPr lang="zh-CN" altLang="en-US" sz="1300" b="1">
                        <a:solidFill>
                          <a:srgbClr val="0F172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158308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NYC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0.6955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0.8786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0.6443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0.7865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0.8265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391145"/>
                  </a:ext>
                </a:extLst>
              </a:tr>
              <a:tr h="491067"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Chicago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0.5617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0.8290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0.4730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0.7733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0.7055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037743"/>
                  </a:ext>
                </a:extLst>
              </a:tr>
            </a:tbl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53C0D7E7-6473-2348-5E8E-04961560D2A3}"/>
              </a:ext>
            </a:extLst>
          </p:cNvPr>
          <p:cNvSpPr/>
          <p:nvPr/>
        </p:nvSpPr>
        <p:spPr>
          <a:xfrm>
            <a:off x="1524000" y="3937000"/>
            <a:ext cx="2286000" cy="9906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96441E-3DD0-A812-7367-D5B2FC93FEB1}"/>
              </a:ext>
            </a:extLst>
          </p:cNvPr>
          <p:cNvSpPr txBox="1"/>
          <p:nvPr/>
        </p:nvSpPr>
        <p:spPr>
          <a:xfrm>
            <a:off x="1676400" y="4089400"/>
            <a:ext cx="19812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NYC Best Recall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0CC02C8-9C30-C3FF-930F-6EF47C28F157}"/>
              </a:ext>
            </a:extLst>
          </p:cNvPr>
          <p:cNvSpPr txBox="1"/>
          <p:nvPr/>
        </p:nvSpPr>
        <p:spPr>
          <a:xfrm>
            <a:off x="1676400" y="4368800"/>
            <a:ext cx="19812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2200" b="1">
                <a:solidFill>
                  <a:srgbClr val="16A34A"/>
                </a:solidFill>
                <a:latin typeface="Microsoft YaHei" panose="020B0503020204020204" pitchFamily="34" charset="-122"/>
              </a:rPr>
              <a:t>0.8265</a:t>
            </a:r>
            <a:endParaRPr lang="zh-CN" altLang="en-US" sz="2200" b="1">
              <a:solidFill>
                <a:srgbClr val="16A34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5542CB3-4AE0-C7F2-655F-9552881B11B4}"/>
              </a:ext>
            </a:extLst>
          </p:cNvPr>
          <p:cNvSpPr/>
          <p:nvPr/>
        </p:nvSpPr>
        <p:spPr>
          <a:xfrm>
            <a:off x="4953000" y="3937000"/>
            <a:ext cx="2286000" cy="9906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05E1E3-C865-938E-F358-F7C52CDF73CD}"/>
              </a:ext>
            </a:extLst>
          </p:cNvPr>
          <p:cNvSpPr txBox="1"/>
          <p:nvPr/>
        </p:nvSpPr>
        <p:spPr>
          <a:xfrm>
            <a:off x="5105400" y="4089400"/>
            <a:ext cx="19812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Chicago Recall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51E62B2-2582-ECA8-71CB-30ED0A9C11DD}"/>
              </a:ext>
            </a:extLst>
          </p:cNvPr>
          <p:cNvSpPr txBox="1"/>
          <p:nvPr/>
        </p:nvSpPr>
        <p:spPr>
          <a:xfrm>
            <a:off x="5105400" y="4368800"/>
            <a:ext cx="19812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2200" b="1">
                <a:solidFill>
                  <a:srgbClr val="16A34A"/>
                </a:solidFill>
                <a:latin typeface="Microsoft YaHei" panose="020B0503020204020204" pitchFamily="34" charset="-122"/>
              </a:rPr>
              <a:t>0.7055</a:t>
            </a:r>
            <a:endParaRPr lang="zh-CN" altLang="en-US" sz="2200" b="1">
              <a:solidFill>
                <a:srgbClr val="16A34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6490655-B913-D7AB-DD3C-2F31D287D997}"/>
              </a:ext>
            </a:extLst>
          </p:cNvPr>
          <p:cNvSpPr/>
          <p:nvPr/>
        </p:nvSpPr>
        <p:spPr>
          <a:xfrm>
            <a:off x="8382000" y="3937000"/>
            <a:ext cx="2286000" cy="9906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1CF3A5B-47E2-05F5-8987-A556C38DE7F0}"/>
              </a:ext>
            </a:extLst>
          </p:cNvPr>
          <p:cNvSpPr txBox="1"/>
          <p:nvPr/>
        </p:nvSpPr>
        <p:spPr>
          <a:xfrm>
            <a:off x="8534400" y="4089400"/>
            <a:ext cx="19812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Main Metric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EB77986-7903-F155-F0A2-F6793CFD9D78}"/>
              </a:ext>
            </a:extLst>
          </p:cNvPr>
          <p:cNvSpPr txBox="1"/>
          <p:nvPr/>
        </p:nvSpPr>
        <p:spPr>
          <a:xfrm>
            <a:off x="8534400" y="4368800"/>
            <a:ext cx="19812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2200" b="1">
                <a:solidFill>
                  <a:srgbClr val="2563EB"/>
                </a:solidFill>
                <a:latin typeface="Microsoft YaHei" panose="020B0503020204020204" pitchFamily="34" charset="-122"/>
              </a:rPr>
              <a:t>AUC-PR</a:t>
            </a:r>
            <a:endParaRPr lang="zh-CN" altLang="en-US" sz="22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40865A3-13A7-2344-016C-8E2C886AA11B}"/>
              </a:ext>
            </a:extLst>
          </p:cNvPr>
          <p:cNvSpPr txBox="1"/>
          <p:nvPr/>
        </p:nvSpPr>
        <p:spPr>
          <a:xfrm>
            <a:off x="1524000" y="5334000"/>
            <a:ext cx="9144000" cy="67197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</a:rPr>
              <a:t>交通碰撞数据不平衡，因此不能只看 </a:t>
            </a: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</a:rPr>
              <a:t>Accuracy
• 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</a:rPr>
              <a:t>较高 </a:t>
            </a:r>
            <a:r>
              <a:rPr lang="en-US" altLang="zh-CN" sz="1600">
                <a:solidFill>
                  <a:srgbClr val="1E293B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600">
                <a:solidFill>
                  <a:srgbClr val="1E293B"/>
                </a:solidFill>
                <a:latin typeface="Microsoft YaHei" panose="020B0503020204020204" pitchFamily="34" charset="-122"/>
              </a:rPr>
              <a:t>表示模型能发现更多真实风险区域</a:t>
            </a:r>
          </a:p>
        </p:txBody>
      </p:sp>
    </p:spTree>
    <p:extLst>
      <p:ext uri="{BB962C8B-B14F-4D97-AF65-F5344CB8AC3E}">
        <p14:creationId xmlns:p14="http://schemas.microsoft.com/office/powerpoint/2010/main" val="4198569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8D4DFC2-87E3-CA27-74F3-1F0FD611DC48}"/>
              </a:ext>
            </a:extLst>
          </p:cNvPr>
          <p:cNvSpPr txBox="1"/>
          <p:nvPr/>
        </p:nvSpPr>
        <p:spPr>
          <a:xfrm>
            <a:off x="685800" y="381000"/>
            <a:ext cx="9652000" cy="4873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500" b="1">
                <a:solidFill>
                  <a:srgbClr val="0F172A"/>
                </a:solidFill>
                <a:latin typeface="Microsoft YaHei" panose="020B0503020204020204" pitchFamily="34" charset="-122"/>
              </a:rPr>
              <a:t>消融实验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6D31E1-435C-17FC-E0EB-443FF1C9A7A3}"/>
              </a:ext>
            </a:extLst>
          </p:cNvPr>
          <p:cNvSpPr txBox="1"/>
          <p:nvPr/>
        </p:nvSpPr>
        <p:spPr>
          <a:xfrm>
            <a:off x="711200" y="863600"/>
            <a:ext cx="939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100">
                <a:solidFill>
                  <a:srgbClr val="64748B"/>
                </a:solidFill>
                <a:latin typeface="Microsoft YaHei" panose="020B0503020204020204" pitchFamily="34" charset="-122"/>
              </a:rPr>
              <a:t>验证平滑门和流式后处理对模型性能的贡献。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18A745-F93D-BF4B-92A3-8EB902633E54}"/>
              </a:ext>
            </a:extLst>
          </p:cNvPr>
          <p:cNvSpPr/>
          <p:nvPr/>
        </p:nvSpPr>
        <p:spPr>
          <a:xfrm>
            <a:off x="711200" y="1257300"/>
            <a:ext cx="10922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8B412F-8B37-2AC3-9D6A-4A0BD5493BAF}"/>
              </a:ext>
            </a:extLst>
          </p:cNvPr>
          <p:cNvSpPr txBox="1"/>
          <p:nvPr/>
        </p:nvSpPr>
        <p:spPr>
          <a:xfrm>
            <a:off x="11099800" y="431800"/>
            <a:ext cx="50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64748B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11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7720C1-A7E4-8AEE-D6A6-75F4E7701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028053"/>
              </p:ext>
            </p:extLst>
          </p:nvPr>
        </p:nvGraphicFramePr>
        <p:xfrm>
          <a:off x="825500" y="1714500"/>
          <a:ext cx="533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165225628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954758177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76830117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solidFill>
                            <a:srgbClr val="0F172A"/>
                          </a:solidFill>
                          <a:latin typeface="Microsoft YaHei" panose="020B0503020204020204" pitchFamily="34" charset="-122"/>
                        </a:rPr>
                        <a:t>Variant</a:t>
                      </a:r>
                      <a:endParaRPr lang="zh-CN" altLang="en-US" sz="1200" b="1">
                        <a:solidFill>
                          <a:srgbClr val="0F172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solidFill>
                            <a:srgbClr val="0F172A"/>
                          </a:solidFill>
                          <a:latin typeface="Microsoft YaHei" panose="020B0503020204020204" pitchFamily="34" charset="-122"/>
                        </a:rPr>
                        <a:t>NYC Recall</a:t>
                      </a:r>
                      <a:endParaRPr lang="zh-CN" altLang="en-US" sz="1200" b="1">
                        <a:solidFill>
                          <a:srgbClr val="0F172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1">
                          <a:solidFill>
                            <a:srgbClr val="0F172A"/>
                          </a:solidFill>
                          <a:latin typeface="Microsoft YaHei" panose="020B0503020204020204" pitchFamily="34" charset="-122"/>
                        </a:rPr>
                        <a:t>Chicago Recall</a:t>
                      </a:r>
                      <a:endParaRPr lang="zh-CN" altLang="en-US" sz="1200" b="1">
                        <a:solidFill>
                          <a:srgbClr val="0F172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37275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No Gate + No Stream</a:t>
                      </a:r>
                      <a:endParaRPr lang="zh-CN" altLang="en-US" sz="12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0.7108</a:t>
                      </a:r>
                      <a:endParaRPr lang="zh-CN" altLang="en-US" sz="12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0.6318</a:t>
                      </a:r>
                      <a:endParaRPr lang="zh-CN" altLang="en-US" sz="12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97576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No Gate</a:t>
                      </a:r>
                      <a:endParaRPr lang="zh-CN" altLang="en-US" sz="12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0.8046</a:t>
                      </a:r>
                      <a:endParaRPr lang="zh-CN" altLang="en-US" sz="12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0.6693</a:t>
                      </a:r>
                      <a:endParaRPr lang="zh-CN" altLang="en-US" sz="12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8372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No Stream</a:t>
                      </a:r>
                      <a:endParaRPr lang="zh-CN" altLang="en-US" sz="12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0.7407</a:t>
                      </a:r>
                      <a:endParaRPr lang="zh-CN" altLang="en-US" sz="12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0.6401</a:t>
                      </a:r>
                      <a:endParaRPr lang="zh-CN" altLang="en-US" sz="12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4542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Full Model</a:t>
                      </a:r>
                      <a:endParaRPr lang="zh-CN" altLang="en-US" sz="12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0.8265</a:t>
                      </a:r>
                      <a:endParaRPr lang="zh-CN" altLang="en-US" sz="12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0.7055</a:t>
                      </a:r>
                      <a:endParaRPr lang="zh-CN" altLang="en-US" sz="12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004089"/>
                  </a:ext>
                </a:extLst>
              </a:tr>
            </a:tbl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498F56EE-2A80-A75B-1DEF-9BADBE33A2AF}"/>
              </a:ext>
            </a:extLst>
          </p:cNvPr>
          <p:cNvSpPr/>
          <p:nvPr/>
        </p:nvSpPr>
        <p:spPr>
          <a:xfrm>
            <a:off x="6731000" y="1587500"/>
            <a:ext cx="4318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157C5B9-352C-C031-7AB4-A8830219FCD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500" y="1651000"/>
            <a:ext cx="4191000" cy="26670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043AA0F-43EC-258A-0CFF-22FC58E5374F}"/>
              </a:ext>
            </a:extLst>
          </p:cNvPr>
          <p:cNvSpPr txBox="1"/>
          <p:nvPr/>
        </p:nvSpPr>
        <p:spPr>
          <a:xfrm>
            <a:off x="1333500" y="4826000"/>
            <a:ext cx="9144000" cy="70275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完整模型在两个城市上 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均最高
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模块移除后性能下降，说明改进有效</a:t>
            </a:r>
          </a:p>
        </p:txBody>
      </p:sp>
    </p:spTree>
    <p:extLst>
      <p:ext uri="{BB962C8B-B14F-4D97-AF65-F5344CB8AC3E}">
        <p14:creationId xmlns:p14="http://schemas.microsoft.com/office/powerpoint/2010/main" val="4067769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1DE8943-FE48-198C-1319-AACD261BE416}"/>
              </a:ext>
            </a:extLst>
          </p:cNvPr>
          <p:cNvSpPr txBox="1"/>
          <p:nvPr/>
        </p:nvSpPr>
        <p:spPr>
          <a:xfrm>
            <a:off x="685800" y="381000"/>
            <a:ext cx="9652000" cy="4873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500" b="1">
                <a:solidFill>
                  <a:srgbClr val="0F172A"/>
                </a:solidFill>
                <a:latin typeface="Microsoft YaHei" panose="020B0503020204020204" pitchFamily="34" charset="-122"/>
              </a:rPr>
              <a:t>前端可视化系统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397412-93AF-FA38-7DAF-F97035C1A984}"/>
              </a:ext>
            </a:extLst>
          </p:cNvPr>
          <p:cNvSpPr txBox="1"/>
          <p:nvPr/>
        </p:nvSpPr>
        <p:spPr>
          <a:xfrm>
            <a:off x="711200" y="863600"/>
            <a:ext cx="939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100">
                <a:solidFill>
                  <a:srgbClr val="64748B"/>
                </a:solidFill>
                <a:latin typeface="Microsoft YaHei" panose="020B0503020204020204" pitchFamily="34" charset="-122"/>
              </a:rPr>
              <a:t>风险热力图、标签校验和空间解释联动展示。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61F392-4FE8-58DE-1CEA-8D041DE0947B}"/>
              </a:ext>
            </a:extLst>
          </p:cNvPr>
          <p:cNvSpPr/>
          <p:nvPr/>
        </p:nvSpPr>
        <p:spPr>
          <a:xfrm>
            <a:off x="711200" y="1257300"/>
            <a:ext cx="10922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C0FB4D-5F27-A15A-75A5-FD84E5E40BAA}"/>
              </a:ext>
            </a:extLst>
          </p:cNvPr>
          <p:cNvSpPr txBox="1"/>
          <p:nvPr/>
        </p:nvSpPr>
        <p:spPr>
          <a:xfrm>
            <a:off x="11099800" y="431800"/>
            <a:ext cx="50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64748B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11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04E8742-AD51-EF55-CFF2-E0416DCC5AB5}"/>
              </a:ext>
            </a:extLst>
          </p:cNvPr>
          <p:cNvSpPr/>
          <p:nvPr/>
        </p:nvSpPr>
        <p:spPr>
          <a:xfrm>
            <a:off x="698500" y="1460500"/>
            <a:ext cx="10795000" cy="412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2991B98-890D-5258-4F55-884D5C674DD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24000"/>
            <a:ext cx="10668000" cy="40005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4BDE499-A32A-544E-6F7C-EA03FA4DA223}"/>
              </a:ext>
            </a:extLst>
          </p:cNvPr>
          <p:cNvSpPr txBox="1"/>
          <p:nvPr/>
        </p:nvSpPr>
        <p:spPr>
          <a:xfrm>
            <a:off x="1143000" y="5778500"/>
            <a:ext cx="9652000" cy="61042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</a:rPr>
              <a:t>城市切换、时间轴播放、地图交互
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</a:rPr>
              <a:t>展示风险概率、流量偏差、</a:t>
            </a:r>
            <a:r>
              <a:rPr lang="en-US" altLang="zh-CN" sz="1400">
                <a:solidFill>
                  <a:srgbClr val="1E293B"/>
                </a:solidFill>
                <a:latin typeface="Microsoft YaHei" panose="020B0503020204020204" pitchFamily="34" charset="-122"/>
              </a:rPr>
              <a:t>TP / FP / FN </a:t>
            </a:r>
            <a:r>
              <a:rPr lang="zh-CN" altLang="en-US" sz="1400">
                <a:solidFill>
                  <a:srgbClr val="1E293B"/>
                </a:solidFill>
                <a:latin typeface="Microsoft YaHei" panose="020B0503020204020204" pitchFamily="34" charset="-122"/>
              </a:rPr>
              <a:t>校验和邻接解释</a:t>
            </a:r>
          </a:p>
        </p:txBody>
      </p:sp>
    </p:spTree>
    <p:extLst>
      <p:ext uri="{BB962C8B-B14F-4D97-AF65-F5344CB8AC3E}">
        <p14:creationId xmlns:p14="http://schemas.microsoft.com/office/powerpoint/2010/main" val="509970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3D610C1-E1F7-0D34-C47C-D6908A738BCF}"/>
              </a:ext>
            </a:extLst>
          </p:cNvPr>
          <p:cNvSpPr txBox="1"/>
          <p:nvPr/>
        </p:nvSpPr>
        <p:spPr>
          <a:xfrm>
            <a:off x="685800" y="381000"/>
            <a:ext cx="9652000" cy="4873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500" b="1">
                <a:solidFill>
                  <a:srgbClr val="0F172A"/>
                </a:solidFill>
                <a:latin typeface="Microsoft YaHei" panose="020B0503020204020204" pitchFamily="34" charset="-122"/>
              </a:rPr>
              <a:t>前端数据说明与系统边界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1B1125E-D28C-823E-BB8E-C1598A288941}"/>
              </a:ext>
            </a:extLst>
          </p:cNvPr>
          <p:cNvSpPr txBox="1"/>
          <p:nvPr/>
        </p:nvSpPr>
        <p:spPr>
          <a:xfrm>
            <a:off x="711200" y="863600"/>
            <a:ext cx="939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100">
                <a:solidFill>
                  <a:srgbClr val="64748B"/>
                </a:solidFill>
                <a:latin typeface="Microsoft YaHei" panose="020B0503020204020204" pitchFamily="34" charset="-122"/>
              </a:rPr>
              <a:t>代表性 </a:t>
            </a:r>
            <a:r>
              <a:rPr lang="en-US" altLang="zh-CN" sz="1100">
                <a:solidFill>
                  <a:srgbClr val="64748B"/>
                </a:solidFill>
                <a:latin typeface="Microsoft YaHei" panose="020B0503020204020204" pitchFamily="34" charset="-122"/>
              </a:rPr>
              <a:t>JSON </a:t>
            </a:r>
            <a:r>
              <a:rPr lang="zh-CN" altLang="en-US" sz="1100">
                <a:solidFill>
                  <a:srgbClr val="64748B"/>
                </a:solidFill>
                <a:latin typeface="Microsoft YaHei" panose="020B0503020204020204" pitchFamily="34" charset="-122"/>
              </a:rPr>
              <a:t>样本用于保证浏览器交互性能。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9E7C36-15C5-A9EC-E3F4-105D8135918F}"/>
              </a:ext>
            </a:extLst>
          </p:cNvPr>
          <p:cNvSpPr/>
          <p:nvPr/>
        </p:nvSpPr>
        <p:spPr>
          <a:xfrm>
            <a:off x="711200" y="1257300"/>
            <a:ext cx="10922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CC222F2-066C-A9ED-79B6-9C758BE4A6CC}"/>
              </a:ext>
            </a:extLst>
          </p:cNvPr>
          <p:cNvSpPr txBox="1"/>
          <p:nvPr/>
        </p:nvSpPr>
        <p:spPr>
          <a:xfrm>
            <a:off x="11099800" y="431800"/>
            <a:ext cx="50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64748B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11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314B966-5E5E-BA3C-753D-3F01BA912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80159"/>
              </p:ext>
            </p:extLst>
          </p:nvPr>
        </p:nvGraphicFramePr>
        <p:xfrm>
          <a:off x="1206500" y="1778000"/>
          <a:ext cx="9779000" cy="133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800">
                  <a:extLst>
                    <a:ext uri="{9D8B030D-6E8A-4147-A177-3AD203B41FA5}">
                      <a16:colId xmlns:a16="http://schemas.microsoft.com/office/drawing/2014/main" val="2491052083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1611170346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229506071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3954746091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1057159942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0F172A"/>
                          </a:solidFill>
                          <a:latin typeface="Microsoft YaHei" panose="020B0503020204020204" pitchFamily="34" charset="-122"/>
                        </a:rPr>
                        <a:t>City</a:t>
                      </a:r>
                      <a:endParaRPr lang="zh-CN" altLang="en-US" sz="1300" b="1">
                        <a:solidFill>
                          <a:srgbClr val="0F172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0F172A"/>
                          </a:solidFill>
                          <a:latin typeface="Microsoft YaHei" panose="020B0503020204020204" pitchFamily="34" charset="-122"/>
                        </a:rPr>
                        <a:t>Frames</a:t>
                      </a:r>
                      <a:endParaRPr lang="zh-CN" altLang="en-US" sz="1300" b="1">
                        <a:solidFill>
                          <a:srgbClr val="0F172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0F172A"/>
                          </a:solidFill>
                          <a:latin typeface="Microsoft YaHei" panose="020B0503020204020204" pitchFamily="34" charset="-122"/>
                        </a:rPr>
                        <a:t>Regions</a:t>
                      </a:r>
                      <a:endParaRPr lang="zh-CN" altLang="en-US" sz="1300" b="1">
                        <a:solidFill>
                          <a:srgbClr val="0F172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0F172A"/>
                          </a:solidFill>
                          <a:latin typeface="Microsoft YaHei" panose="020B0503020204020204" pitchFamily="34" charset="-122"/>
                        </a:rPr>
                        <a:t>Records</a:t>
                      </a:r>
                      <a:endParaRPr lang="zh-CN" altLang="en-US" sz="1300" b="1">
                        <a:solidFill>
                          <a:srgbClr val="0F172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1">
                          <a:solidFill>
                            <a:srgbClr val="0F172A"/>
                          </a:solidFill>
                          <a:latin typeface="Microsoft YaHei" panose="020B0503020204020204" pitchFamily="34" charset="-122"/>
                        </a:rPr>
                        <a:t>With Labels</a:t>
                      </a:r>
                      <a:endParaRPr lang="zh-CN" altLang="en-US" sz="1300" b="1">
                        <a:solidFill>
                          <a:srgbClr val="0F172A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388769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NYC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13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64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832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296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922299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Chicago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13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27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351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300" b="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83</a:t>
                      </a:r>
                      <a:endParaRPr lang="zh-CN" altLang="en-US" sz="1300" b="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101600" marR="101600" marT="50800" marB="508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0703458"/>
                  </a:ext>
                </a:extLst>
              </a:tr>
            </a:tbl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DC79366B-93AC-1985-72BB-4D77DA862CB8}"/>
              </a:ext>
            </a:extLst>
          </p:cNvPr>
          <p:cNvSpPr/>
          <p:nvPr/>
        </p:nvSpPr>
        <p:spPr>
          <a:xfrm>
            <a:off x="1206500" y="3683000"/>
            <a:ext cx="97790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C1B5E46-3D8C-D416-4C52-23232B05485D}"/>
              </a:ext>
            </a:extLst>
          </p:cNvPr>
          <p:cNvSpPr txBox="1"/>
          <p:nvPr/>
        </p:nvSpPr>
        <p:spPr>
          <a:xfrm>
            <a:off x="1549400" y="4038600"/>
            <a:ext cx="9144000" cy="108747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E293B"/>
                </a:solidFill>
                <a:latin typeface="Microsoft YaHei" panose="020B0503020204020204" pitchFamily="34" charset="-122"/>
              </a:rPr>
              <a:t>前端加载导出的 </a:t>
            </a:r>
            <a:r>
              <a:rPr lang="en-US" altLang="zh-CN">
                <a:solidFill>
                  <a:srgbClr val="1E293B"/>
                </a:solidFill>
                <a:latin typeface="Microsoft YaHei" panose="020B0503020204020204" pitchFamily="34" charset="-122"/>
              </a:rPr>
              <a:t>JSON</a:t>
            </a:r>
            <a:r>
              <a:rPr lang="zh-CN" altLang="en-US">
                <a:solidFill>
                  <a:srgbClr val="1E293B"/>
                </a:solidFill>
                <a:latin typeface="Microsoft YaHei" panose="020B0503020204020204" pitchFamily="34" charset="-122"/>
              </a:rPr>
              <a:t>，而不是直接加载全量 </a:t>
            </a:r>
            <a:r>
              <a:rPr lang="en-US" altLang="zh-CN">
                <a:solidFill>
                  <a:srgbClr val="1E293B"/>
                </a:solidFill>
                <a:latin typeface="Microsoft YaHei" panose="020B0503020204020204" pitchFamily="34" charset="-122"/>
              </a:rPr>
              <a:t>.npy </a:t>
            </a:r>
            <a:r>
              <a:rPr lang="zh-CN" altLang="en-US">
                <a:solidFill>
                  <a:srgbClr val="1E293B"/>
                </a:solidFill>
                <a:latin typeface="Microsoft YaHei" panose="020B0503020204020204" pitchFamily="34" charset="-122"/>
              </a:rPr>
              <a:t>文件
</a:t>
            </a:r>
            <a:r>
              <a:rPr lang="en-US" altLang="zh-CN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E293B"/>
                </a:solidFill>
                <a:latin typeface="Microsoft YaHei" panose="020B0503020204020204" pitchFamily="34" charset="-122"/>
              </a:rPr>
              <a:t>当前系统定位为离线预测与可视化原型
</a:t>
            </a:r>
            <a:r>
              <a:rPr lang="en-US" altLang="zh-CN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>
                <a:solidFill>
                  <a:srgbClr val="1E293B"/>
                </a:solidFill>
                <a:latin typeface="Microsoft YaHei" panose="020B0503020204020204" pitchFamily="34" charset="-122"/>
              </a:rPr>
              <a:t>尚未接入实时交通接口，不是生产级实时平台</a:t>
            </a:r>
          </a:p>
        </p:txBody>
      </p:sp>
    </p:spTree>
    <p:extLst>
      <p:ext uri="{BB962C8B-B14F-4D97-AF65-F5344CB8AC3E}">
        <p14:creationId xmlns:p14="http://schemas.microsoft.com/office/powerpoint/2010/main" val="1504773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BD47207-EEAA-E3F6-A7C3-5736BA672FA1}"/>
              </a:ext>
            </a:extLst>
          </p:cNvPr>
          <p:cNvSpPr txBox="1"/>
          <p:nvPr/>
        </p:nvSpPr>
        <p:spPr>
          <a:xfrm>
            <a:off x="685800" y="381000"/>
            <a:ext cx="9652000" cy="4873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500" b="1">
                <a:solidFill>
                  <a:srgbClr val="0F172A"/>
                </a:solidFill>
                <a:latin typeface="Microsoft YaHei" panose="020B0503020204020204" pitchFamily="34" charset="-122"/>
              </a:rPr>
              <a:t>项目部署与运行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80DE88-B6A9-EB02-CA6A-6F5A841FC4C9}"/>
              </a:ext>
            </a:extLst>
          </p:cNvPr>
          <p:cNvSpPr txBox="1"/>
          <p:nvPr/>
        </p:nvSpPr>
        <p:spPr>
          <a:xfrm>
            <a:off x="711200" y="863600"/>
            <a:ext cx="939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100">
                <a:solidFill>
                  <a:srgbClr val="64748B"/>
                </a:solidFill>
                <a:latin typeface="Microsoft YaHei" panose="020B0503020204020204" pitchFamily="34" charset="-122"/>
              </a:rPr>
              <a:t>Git LFS </a:t>
            </a:r>
            <a:r>
              <a:rPr lang="zh-CN" altLang="en-US" sz="1100">
                <a:solidFill>
                  <a:srgbClr val="64748B"/>
                </a:solidFill>
                <a:latin typeface="Microsoft YaHei" panose="020B0503020204020204" pitchFamily="34" charset="-122"/>
              </a:rPr>
              <a:t>管理大文件，本地 </a:t>
            </a:r>
            <a:r>
              <a:rPr lang="en-US" altLang="zh-CN" sz="1100">
                <a:solidFill>
                  <a:srgbClr val="64748B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100">
                <a:solidFill>
                  <a:srgbClr val="64748B"/>
                </a:solidFill>
                <a:latin typeface="Microsoft YaHei" panose="020B0503020204020204" pitchFamily="34" charset="-122"/>
              </a:rPr>
              <a:t>服务运行前端。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CB822F-9193-734F-6F72-24F514F7DA26}"/>
              </a:ext>
            </a:extLst>
          </p:cNvPr>
          <p:cNvSpPr/>
          <p:nvPr/>
        </p:nvSpPr>
        <p:spPr>
          <a:xfrm>
            <a:off x="711200" y="1257300"/>
            <a:ext cx="10922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EC19E5-F850-82EA-23BC-69F6BCBD44B1}"/>
              </a:ext>
            </a:extLst>
          </p:cNvPr>
          <p:cNvSpPr txBox="1"/>
          <p:nvPr/>
        </p:nvSpPr>
        <p:spPr>
          <a:xfrm>
            <a:off x="11099800" y="431800"/>
            <a:ext cx="50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64748B"/>
                </a:solidFill>
                <a:latin typeface="Microsoft YaHei" panose="020B0503020204020204" pitchFamily="34" charset="-122"/>
              </a:rPr>
              <a:t>12</a:t>
            </a:r>
            <a:endParaRPr lang="zh-CN" altLang="en-US" sz="11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C422EDB-28A8-15D3-0655-7CC464C73979}"/>
              </a:ext>
            </a:extLst>
          </p:cNvPr>
          <p:cNvSpPr/>
          <p:nvPr/>
        </p:nvSpPr>
        <p:spPr>
          <a:xfrm>
            <a:off x="6565900" y="1587500"/>
            <a:ext cx="4381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FC9537C-77BF-E39E-AA08-9414BD2F6E8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1651000"/>
            <a:ext cx="4254500" cy="2857500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31F36852-B4AF-F7FC-69AE-0C47773DB0C6}"/>
              </a:ext>
            </a:extLst>
          </p:cNvPr>
          <p:cNvSpPr/>
          <p:nvPr/>
        </p:nvSpPr>
        <p:spPr>
          <a:xfrm>
            <a:off x="787400" y="1625600"/>
            <a:ext cx="5207000" cy="314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9623FDF-D295-6B54-BF8D-A0CBF023E1B3}"/>
              </a:ext>
            </a:extLst>
          </p:cNvPr>
          <p:cNvSpPr txBox="1"/>
          <p:nvPr/>
        </p:nvSpPr>
        <p:spPr>
          <a:xfrm>
            <a:off x="1066800" y="2006600"/>
            <a:ext cx="4699000" cy="137986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• GitHub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保存代码、文档、图片和 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LFS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指针
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• .npy / .h5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大文件需要 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git lfs pull
•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前端通过 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python -m http.server 8000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启动
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不要直接使用 </a:t>
            </a:r>
            <a:r>
              <a:rPr lang="en-US" altLang="zh-CN" sz="1700">
                <a:solidFill>
                  <a:srgbClr val="1E293B"/>
                </a:solidFill>
                <a:latin typeface="Microsoft YaHei" panose="020B0503020204020204" pitchFamily="34" charset="-122"/>
              </a:rPr>
              <a:t>Download ZIP </a:t>
            </a:r>
            <a:r>
              <a:rPr lang="zh-CN" altLang="en-US" sz="1700">
                <a:solidFill>
                  <a:srgbClr val="1E293B"/>
                </a:solidFill>
                <a:latin typeface="Microsoft YaHei" panose="020B0503020204020204" pitchFamily="34" charset="-122"/>
              </a:rPr>
              <a:t>获取数据集</a:t>
            </a:r>
          </a:p>
        </p:txBody>
      </p:sp>
    </p:spTree>
    <p:extLst>
      <p:ext uri="{BB962C8B-B14F-4D97-AF65-F5344CB8AC3E}">
        <p14:creationId xmlns:p14="http://schemas.microsoft.com/office/powerpoint/2010/main" val="3114976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44C4E4C-7A1B-7ADA-A272-07A086334B8B}"/>
              </a:ext>
            </a:extLst>
          </p:cNvPr>
          <p:cNvSpPr txBox="1"/>
          <p:nvPr/>
        </p:nvSpPr>
        <p:spPr>
          <a:xfrm>
            <a:off x="685800" y="381000"/>
            <a:ext cx="9652000" cy="4873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500" b="1">
                <a:solidFill>
                  <a:srgbClr val="0F172A"/>
                </a:solidFill>
                <a:latin typeface="Microsoft YaHei" panose="020B0503020204020204" pitchFamily="34" charset="-122"/>
              </a:rPr>
              <a:t>总结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B70DE1-DDC0-489A-D361-F07DA1158E49}"/>
              </a:ext>
            </a:extLst>
          </p:cNvPr>
          <p:cNvSpPr txBox="1"/>
          <p:nvPr/>
        </p:nvSpPr>
        <p:spPr>
          <a:xfrm>
            <a:off x="711200" y="863600"/>
            <a:ext cx="939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100">
                <a:solidFill>
                  <a:srgbClr val="64748B"/>
                </a:solidFill>
                <a:latin typeface="Microsoft YaHei" panose="020B0503020204020204" pitchFamily="34" charset="-122"/>
              </a:rPr>
              <a:t>完成从数据、模型、实验到可视化的完整闭环。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0DD386-535D-1C1C-E813-8BC29C3476EB}"/>
              </a:ext>
            </a:extLst>
          </p:cNvPr>
          <p:cNvSpPr/>
          <p:nvPr/>
        </p:nvSpPr>
        <p:spPr>
          <a:xfrm>
            <a:off x="711200" y="1257300"/>
            <a:ext cx="10922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41BCF47-8E4B-7878-A960-FE99F7CD6E97}"/>
              </a:ext>
            </a:extLst>
          </p:cNvPr>
          <p:cNvSpPr txBox="1"/>
          <p:nvPr/>
        </p:nvSpPr>
        <p:spPr>
          <a:xfrm>
            <a:off x="11099800" y="431800"/>
            <a:ext cx="50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64748B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11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E02DB1-DD0B-D01F-4E39-DBC8C0CF81B2}"/>
              </a:ext>
            </a:extLst>
          </p:cNvPr>
          <p:cNvSpPr txBox="1"/>
          <p:nvPr/>
        </p:nvSpPr>
        <p:spPr>
          <a:xfrm>
            <a:off x="1524000" y="1778000"/>
            <a:ext cx="9144000" cy="162608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1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1E293B"/>
                </a:solidFill>
                <a:latin typeface="Microsoft YaHei" panose="020B0503020204020204" pitchFamily="34" charset="-122"/>
              </a:rPr>
              <a:t>构建 </a:t>
            </a:r>
            <a:r>
              <a:rPr lang="en-US" altLang="zh-CN" sz="2100">
                <a:solidFill>
                  <a:srgbClr val="1E293B"/>
                </a:solidFill>
                <a:latin typeface="Microsoft YaHei" panose="020B0503020204020204" pitchFamily="34" charset="-122"/>
              </a:rPr>
              <a:t>NYC </a:t>
            </a:r>
            <a:r>
              <a:rPr lang="zh-CN" altLang="en-US" sz="2100">
                <a:solidFill>
                  <a:srgbClr val="1E293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2100">
                <a:solidFill>
                  <a:srgbClr val="1E293B"/>
                </a:solidFill>
                <a:latin typeface="Microsoft YaHei" panose="020B0503020204020204" pitchFamily="34" charset="-122"/>
              </a:rPr>
              <a:t>Chicago </a:t>
            </a:r>
            <a:r>
              <a:rPr lang="zh-CN" altLang="en-US" sz="2100">
                <a:solidFill>
                  <a:srgbClr val="1E293B"/>
                </a:solidFill>
                <a:latin typeface="Microsoft YaHei" panose="020B0503020204020204" pitchFamily="34" charset="-122"/>
              </a:rPr>
              <a:t>双城交通风险预测数据流程
</a:t>
            </a:r>
            <a:r>
              <a:rPr lang="en-US" altLang="zh-CN" sz="21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1E293B"/>
                </a:solidFill>
                <a:latin typeface="Microsoft YaHei" panose="020B0503020204020204" pitchFamily="34" charset="-122"/>
              </a:rPr>
              <a:t>设计并训练 </a:t>
            </a:r>
            <a:r>
              <a:rPr lang="en-US" altLang="zh-CN" sz="2100">
                <a:solidFill>
                  <a:srgbClr val="1E293B"/>
                </a:solidFill>
                <a:latin typeface="Microsoft YaHei" panose="020B0503020204020204" pitchFamily="34" charset="-122"/>
              </a:rPr>
              <a:t>Attention-LSTM </a:t>
            </a:r>
            <a:r>
              <a:rPr lang="zh-CN" altLang="en-US" sz="2100">
                <a:solidFill>
                  <a:srgbClr val="1E293B"/>
                </a:solidFill>
                <a:latin typeface="Microsoft YaHei" panose="020B0503020204020204" pitchFamily="34" charset="-122"/>
              </a:rPr>
              <a:t>风险预测模型
</a:t>
            </a:r>
            <a:r>
              <a:rPr lang="en-US" altLang="zh-CN" sz="21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1E293B"/>
                </a:solidFill>
                <a:latin typeface="Microsoft YaHei" panose="020B0503020204020204" pitchFamily="34" charset="-122"/>
              </a:rPr>
              <a:t>完成多模型对比实验和消融实验
</a:t>
            </a:r>
            <a:r>
              <a:rPr lang="en-US" altLang="zh-CN" sz="21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1E293B"/>
                </a:solidFill>
                <a:latin typeface="Microsoft YaHei" panose="020B0503020204020204" pitchFamily="34" charset="-122"/>
              </a:rPr>
              <a:t>实现前端风险热力图、标签校验和空间解释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34D4F00-A248-A494-8C93-816A30957CA7}"/>
              </a:ext>
            </a:extLst>
          </p:cNvPr>
          <p:cNvSpPr/>
          <p:nvPr/>
        </p:nvSpPr>
        <p:spPr>
          <a:xfrm>
            <a:off x="1651000" y="4826000"/>
            <a:ext cx="2286000" cy="9906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5B5C0E-4935-A5A5-36F3-E459F59D6DF8}"/>
              </a:ext>
            </a:extLst>
          </p:cNvPr>
          <p:cNvSpPr txBox="1"/>
          <p:nvPr/>
        </p:nvSpPr>
        <p:spPr>
          <a:xfrm>
            <a:off x="1803400" y="4978400"/>
            <a:ext cx="19812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Pipeline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270F407-4BEF-039A-B7F8-7074DBCFF457}"/>
              </a:ext>
            </a:extLst>
          </p:cNvPr>
          <p:cNvSpPr txBox="1"/>
          <p:nvPr/>
        </p:nvSpPr>
        <p:spPr>
          <a:xfrm>
            <a:off x="1803400" y="5257800"/>
            <a:ext cx="19812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2200" b="1">
                <a:solidFill>
                  <a:srgbClr val="2563EB"/>
                </a:solidFill>
                <a:latin typeface="Microsoft YaHei" panose="020B0503020204020204" pitchFamily="34" charset="-122"/>
              </a:rPr>
              <a:t>Complete</a:t>
            </a:r>
            <a:endParaRPr lang="zh-CN" altLang="en-US" sz="22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F84368E-3164-A131-99A7-77481AB81BCA}"/>
              </a:ext>
            </a:extLst>
          </p:cNvPr>
          <p:cNvSpPr/>
          <p:nvPr/>
        </p:nvSpPr>
        <p:spPr>
          <a:xfrm>
            <a:off x="4953000" y="4826000"/>
            <a:ext cx="2286000" cy="9906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B762AC-3E67-7C7F-F00A-CD13CB58D708}"/>
              </a:ext>
            </a:extLst>
          </p:cNvPr>
          <p:cNvSpPr txBox="1"/>
          <p:nvPr/>
        </p:nvSpPr>
        <p:spPr>
          <a:xfrm>
            <a:off x="5105400" y="4978400"/>
            <a:ext cx="19812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Datasets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EB8880-C5AA-1C85-4E99-F1F89C746135}"/>
              </a:ext>
            </a:extLst>
          </p:cNvPr>
          <p:cNvSpPr txBox="1"/>
          <p:nvPr/>
        </p:nvSpPr>
        <p:spPr>
          <a:xfrm>
            <a:off x="5105400" y="5257800"/>
            <a:ext cx="19812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2200" b="1">
                <a:solidFill>
                  <a:srgbClr val="D97706"/>
                </a:solidFill>
                <a:latin typeface="Microsoft YaHei" panose="020B0503020204020204" pitchFamily="34" charset="-122"/>
              </a:rPr>
              <a:t>2 Cities</a:t>
            </a:r>
            <a:endParaRPr lang="zh-CN" altLang="en-US" sz="2200" b="1">
              <a:solidFill>
                <a:srgbClr val="D9770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94C7FAA-F8B6-725E-1AAE-A574D4F8DB2F}"/>
              </a:ext>
            </a:extLst>
          </p:cNvPr>
          <p:cNvSpPr/>
          <p:nvPr/>
        </p:nvSpPr>
        <p:spPr>
          <a:xfrm>
            <a:off x="8255000" y="4826000"/>
            <a:ext cx="2286000" cy="9906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2D7F484-1F82-D80E-CAD3-1FD1AC4FC7E5}"/>
              </a:ext>
            </a:extLst>
          </p:cNvPr>
          <p:cNvSpPr txBox="1"/>
          <p:nvPr/>
        </p:nvSpPr>
        <p:spPr>
          <a:xfrm>
            <a:off x="8407400" y="4978400"/>
            <a:ext cx="19812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Dashboard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11EF32A-44E7-FC1E-E95F-9969545E02D4}"/>
              </a:ext>
            </a:extLst>
          </p:cNvPr>
          <p:cNvSpPr txBox="1"/>
          <p:nvPr/>
        </p:nvSpPr>
        <p:spPr>
          <a:xfrm>
            <a:off x="8407400" y="5257800"/>
            <a:ext cx="19812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2200" b="1">
                <a:solidFill>
                  <a:srgbClr val="16A34A"/>
                </a:solidFill>
                <a:latin typeface="Microsoft YaHei" panose="020B0503020204020204" pitchFamily="34" charset="-122"/>
              </a:rPr>
              <a:t>Ready</a:t>
            </a:r>
            <a:endParaRPr lang="zh-CN" altLang="en-US" sz="2200" b="1">
              <a:solidFill>
                <a:srgbClr val="16A34A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2195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2D4EF7E-0849-5C68-8F82-37B38D6F493C}"/>
              </a:ext>
            </a:extLst>
          </p:cNvPr>
          <p:cNvSpPr txBox="1"/>
          <p:nvPr/>
        </p:nvSpPr>
        <p:spPr>
          <a:xfrm>
            <a:off x="685800" y="381000"/>
            <a:ext cx="9652000" cy="4873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500" b="1">
                <a:solidFill>
                  <a:srgbClr val="0F172A"/>
                </a:solidFill>
                <a:latin typeface="Microsoft YaHei" panose="020B0503020204020204" pitchFamily="34" charset="-122"/>
              </a:rPr>
              <a:t>不足与展望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753108-AF85-7420-C8AC-B2B35180053A}"/>
              </a:ext>
            </a:extLst>
          </p:cNvPr>
          <p:cNvSpPr txBox="1"/>
          <p:nvPr/>
        </p:nvSpPr>
        <p:spPr>
          <a:xfrm>
            <a:off x="711200" y="863600"/>
            <a:ext cx="939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100">
                <a:solidFill>
                  <a:srgbClr val="64748B"/>
                </a:solidFill>
                <a:latin typeface="Microsoft YaHei" panose="020B0503020204020204" pitchFamily="34" charset="-122"/>
              </a:rPr>
              <a:t>从离线原型扩展到实时交通预警系统。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8ED96C-22BF-A4A0-BBB2-4741707A215F}"/>
              </a:ext>
            </a:extLst>
          </p:cNvPr>
          <p:cNvSpPr/>
          <p:nvPr/>
        </p:nvSpPr>
        <p:spPr>
          <a:xfrm>
            <a:off x="711200" y="1257300"/>
            <a:ext cx="1092200" cy="50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33272C-1199-234E-36EE-83D715925BE7}"/>
              </a:ext>
            </a:extLst>
          </p:cNvPr>
          <p:cNvSpPr txBox="1"/>
          <p:nvPr/>
        </p:nvSpPr>
        <p:spPr>
          <a:xfrm>
            <a:off x="11099800" y="431800"/>
            <a:ext cx="508000" cy="2718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100">
                <a:solidFill>
                  <a:srgbClr val="64748B"/>
                </a:solidFill>
                <a:latin typeface="Microsoft YaHei" panose="020B0503020204020204" pitchFamily="34" charset="-122"/>
              </a:rPr>
              <a:t>14</a:t>
            </a:r>
            <a:endParaRPr lang="zh-CN" altLang="en-US" sz="11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3FD5BDE-55A2-2D3C-B7E5-3934AAD4033D}"/>
              </a:ext>
            </a:extLst>
          </p:cNvPr>
          <p:cNvSpPr/>
          <p:nvPr/>
        </p:nvSpPr>
        <p:spPr>
          <a:xfrm>
            <a:off x="1143000" y="1676400"/>
            <a:ext cx="9906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A1923C3-C690-7DC6-52B3-335C7D3B80FB}"/>
              </a:ext>
            </a:extLst>
          </p:cNvPr>
          <p:cNvSpPr txBox="1"/>
          <p:nvPr/>
        </p:nvSpPr>
        <p:spPr>
          <a:xfrm>
            <a:off x="1498600" y="2032000"/>
            <a:ext cx="9271000" cy="194925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sz="20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1E293B"/>
                </a:solidFill>
                <a:latin typeface="Microsoft YaHei" panose="020B0503020204020204" pitchFamily="34" charset="-122"/>
              </a:rPr>
              <a:t>当前系统为离线预测与可视化原型
</a:t>
            </a:r>
            <a:r>
              <a:rPr lang="en-US" altLang="zh-CN" sz="20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1E293B"/>
                </a:solidFill>
                <a:latin typeface="Microsoft YaHei" panose="020B0503020204020204" pitchFamily="34" charset="-122"/>
              </a:rPr>
              <a:t>前端展示采用代表性时间帧抽样
</a:t>
            </a:r>
            <a:r>
              <a:rPr lang="en-US" altLang="zh-CN" sz="20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1E293B"/>
                </a:solidFill>
                <a:latin typeface="Microsoft YaHei" panose="020B0503020204020204" pitchFamily="34" charset="-122"/>
              </a:rPr>
              <a:t>尚未接入实时交通流和事故接口
</a:t>
            </a:r>
            <a:r>
              <a:rPr lang="en-US" altLang="zh-CN" sz="20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1E293B"/>
                </a:solidFill>
                <a:latin typeface="Microsoft YaHei" panose="020B0503020204020204" pitchFamily="34" charset="-122"/>
              </a:rPr>
              <a:t>后续可融合真实 </a:t>
            </a:r>
            <a:r>
              <a:rPr lang="en-US" altLang="zh-CN" sz="2000">
                <a:solidFill>
                  <a:srgbClr val="1E293B"/>
                </a:solidFill>
                <a:latin typeface="Microsoft YaHei" panose="020B0503020204020204" pitchFamily="34" charset="-122"/>
              </a:rPr>
              <a:t>GIS </a:t>
            </a:r>
            <a:r>
              <a:rPr lang="zh-CN" altLang="en-US" sz="2000">
                <a:solidFill>
                  <a:srgbClr val="1E293B"/>
                </a:solidFill>
                <a:latin typeface="Microsoft YaHei" panose="020B0503020204020204" pitchFamily="34" charset="-122"/>
              </a:rPr>
              <a:t>边界、天气、施工和大型活动数据
</a:t>
            </a:r>
            <a:r>
              <a:rPr lang="en-US" altLang="zh-CN" sz="2000">
                <a:solidFill>
                  <a:srgbClr val="1E293B"/>
                </a:solidFill>
                <a:latin typeface="Microsoft YaHei" panose="020B0503020204020204" pitchFamily="34" charset="-122"/>
              </a:rPr>
              <a:t>• </a:t>
            </a:r>
            <a:r>
              <a:rPr lang="zh-CN" altLang="en-US" sz="2000">
                <a:solidFill>
                  <a:srgbClr val="1E293B"/>
                </a:solidFill>
                <a:latin typeface="Microsoft YaHei" panose="020B0503020204020204" pitchFamily="34" charset="-122"/>
              </a:rPr>
              <a:t>进一步扩展在线预测和实时预警服务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445846-B71E-3573-627E-07F24A46E222}"/>
              </a:ext>
            </a:extLst>
          </p:cNvPr>
          <p:cNvSpPr txBox="1"/>
          <p:nvPr/>
        </p:nvSpPr>
        <p:spPr>
          <a:xfrm>
            <a:off x="4394200" y="5397500"/>
            <a:ext cx="3429000" cy="56425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3000" b="1">
                <a:solidFill>
                  <a:srgbClr val="2563EB"/>
                </a:solidFill>
                <a:latin typeface="Microsoft YaHei" panose="020B0503020204020204" pitchFamily="34" charset="-122"/>
              </a:rPr>
              <a:t>Thank You</a:t>
            </a:r>
            <a:endParaRPr lang="zh-CN" altLang="en-US" sz="30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4255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1033</Words>
  <Application>Microsoft Office PowerPoint</Application>
  <PresentationFormat>自定义</PresentationFormat>
  <Paragraphs>180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 per</dc:creator>
  <cp:lastModifiedBy>har per</cp:lastModifiedBy>
  <cp:revision>1</cp:revision>
  <dcterms:created xsi:type="dcterms:W3CDTF">2026-04-29T12:59:54Z</dcterms:created>
  <dcterms:modified xsi:type="dcterms:W3CDTF">2026-04-29T12:59:54Z</dcterms:modified>
</cp:coreProperties>
</file>