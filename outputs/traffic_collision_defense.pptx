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6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1F22E-BEB6-467C-B279-C5B72898D092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BCD58-2557-47BC-8DAA-556918FF55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29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各位老师好，我的毕业设计题目是基于 </a:t>
            </a:r>
            <a:r>
              <a:rPr lang="en-US" altLang="zh-CN"/>
              <a:t>Attention-LSTM </a:t>
            </a:r>
            <a:r>
              <a:rPr lang="zh-CN" altLang="en-US"/>
              <a:t>的交通碰撞风险预测与可解释分析系统。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437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本页说明研究背景：交通碰撞风险受时间、空间和区域特征共同影响，预警系统更需要减少漏报。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085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本项目使用 </a:t>
            </a:r>
            <a:r>
              <a:rPr lang="en-US" altLang="zh-CN"/>
              <a:t>NYC </a:t>
            </a:r>
            <a:r>
              <a:rPr lang="zh-CN" altLang="en-US"/>
              <a:t>和 </a:t>
            </a:r>
            <a:r>
              <a:rPr lang="en-US" altLang="zh-CN"/>
              <a:t>Chicago </a:t>
            </a:r>
            <a:r>
              <a:rPr lang="zh-CN" altLang="en-US"/>
              <a:t>两个城市数据集，包括交通时序、标签、坐标映射和空间邻接关系。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332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本页说明整体技术路线：数据、模型、评估、导出和前端展示。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570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模型采用 </a:t>
            </a:r>
            <a:r>
              <a:rPr lang="en-US" altLang="zh-CN"/>
              <a:t>Attention-LSTM</a:t>
            </a:r>
            <a:r>
              <a:rPr lang="zh-CN" altLang="en-US"/>
              <a:t>。</a:t>
            </a:r>
            <a:r>
              <a:rPr lang="en-US" altLang="zh-CN"/>
              <a:t>Attention </a:t>
            </a:r>
            <a:r>
              <a:rPr lang="zh-CN" altLang="en-US"/>
              <a:t>用于权重分配，</a:t>
            </a:r>
            <a:r>
              <a:rPr lang="en-US" altLang="zh-CN"/>
              <a:t>LSTM </a:t>
            </a:r>
            <a:r>
              <a:rPr lang="zh-CN" altLang="en-US"/>
              <a:t>用于建模时间依赖。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838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本页说明后处理模块。交通预警不希望概率频繁跳变，因此引入平滑和流式处理。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054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本页说明实验设置，强调交通碰撞数据不平衡，不能只看 </a:t>
            </a:r>
            <a:r>
              <a:rPr lang="en-US" altLang="zh-CN"/>
              <a:t>Accuracy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891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本页讲核心实验结果。强调召回率和 </a:t>
            </a:r>
            <a:r>
              <a:rPr lang="en-US" altLang="zh-CN"/>
              <a:t>AUC-PR </a:t>
            </a:r>
            <a:r>
              <a:rPr lang="zh-CN" altLang="en-US"/>
              <a:t>对交通安全预警更重要。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368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本页说明消融实验，完整模型比去除模块后的版本更稳定。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781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本页展示真实前端截图，说明系统能联动展示地图、指标和解释面板。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596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本页必须讲清楚边界：不是实时系统，前端展示的是后端导出的代表性样本。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325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本页说明项目如何下载和运行，强调 </a:t>
            </a:r>
            <a:r>
              <a:rPr lang="en-US" altLang="zh-CN"/>
              <a:t>Git LFS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451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总结项目完成内容，强调完整闭环。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028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最后说明不足与展望，主动强调系统边界。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BCD58-2557-47BC-8DAA-556918FF55F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956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BCE3D-9786-CDA4-93EC-94B449E18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735C6F-A329-3E52-4B14-693FB852A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E3B73A-CC8D-88DE-A26B-A54AAC45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6E6CB7-1511-CDB8-CCFB-0FBEBAF6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560B56-99E3-E3F6-B4B3-A6FE8562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818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E36F0-4787-D402-914E-788BFB91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0E292-EC1B-CAB0-F8EE-364A64988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A6EB88-A9E0-C49E-59F3-A3AC262A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50BEE-2D99-82DC-85D4-5E7CF1C7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BAF41B-44D2-B644-952B-B4708DB7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32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4C926-3D43-F92A-AB4E-6D76FEC3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D9AF45-71B1-9776-61F0-3F049F6DB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0F512-72A9-70E0-190E-339A005A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0C6912-6795-67AF-6E11-C6291623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60A946-663F-F495-61BA-E4754B8F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25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432C1-A0B0-2205-EE0A-BDF93825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CADDF-9F13-3F64-88EF-53A7D58C6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46C4E8-6AE8-526F-6F42-F8B4C1A7F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F54197-6E42-6AB8-18D4-2A538C24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F1EFDC-5A5B-86C9-2204-450C907B4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1682BC-63AB-1E84-6772-332245E4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57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824ED-DDE6-43A0-C582-C06EE153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5B28B8-6C8D-A9CD-0F7A-659ACE18C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624E91-3C4F-5485-86BB-F45E478DC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F23DED-18CA-7F39-76FA-7CB5DF45E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E31776-61AD-4A05-0C76-CECAAC6C98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6087B5-6DE5-9C85-4738-B61CCAB45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D0F3BC-EBE0-3129-76B4-C4906B79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5DDA0B-4081-7FEC-1E4A-4619E35E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37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BEC4E-4CC7-93EE-BE20-166540DA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AFBFD-339C-F3F3-1E46-CC9C8068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4D625-0C73-4DD3-EA86-ECF68C1C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00CE1E-78AA-CABC-0FEC-5BADD9C6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73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CDF6D9-FE6A-1394-E9D1-147E4459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D0703E-AFB3-4780-5DA5-D148AC99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426D63-DA00-5F94-28F6-E50A81E23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49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CD39A-C61B-6596-BB99-B0D730D2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4ADB40-527F-6236-5A56-1FCCC9CA5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2460CE-190A-7220-57AD-3906D4BE7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4B24DD-3C20-AA09-3F81-D65273C2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8E56ED-755B-59F6-DA7C-16CE320F5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DB90BD-0A65-BEAC-98F4-F675716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79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C051A-FC07-E702-4F5F-0B7909B9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6E5F34-F740-832A-A184-4DB6A6EF8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4020E5-4CDB-0689-E5BB-65A23FA23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02E856-0B11-C20C-73D5-C45B7671C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C263D4-FC8A-7E2B-9989-194DA6C5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B7ED11-9C7D-D63A-BB06-A5A63CB9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3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13632-5F56-9B52-C843-DFD80B4D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BFD90-13A3-55CB-F01B-60D38097F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CD5BE2-0704-DF17-CA5B-18C9F950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D1F32-6F84-6DCE-6F0E-39C70113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F31EE-F6E5-DC5E-3BE7-28770C2F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92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00AFD6-B7FE-2E4E-AF5D-E609742CD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95BF9B-7A1F-B830-A9C1-B3F4F08B2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C85049-7301-074C-4CED-6EB1A6FC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4F8810-5EB8-317C-820C-1AE4909C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428339-2996-350C-70BD-5E671976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160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A08595-AC70-DDF3-58BB-52109EED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B49846-E19D-3829-8809-B80B7BBF1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D5BA4-C588-C5D6-A789-009668F58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0FC5B-6A31-403F-BE2E-68F98C0C0EF3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D44C1A-2F22-FF68-9E21-55AD54C7E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CBA22-02D2-7602-06AF-69117B3C4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28CF3-549F-43C6-A3AB-2C3EB6611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0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5DAF1C-823B-8100-5E06-A49662C0F9B7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40F4DF-1578-999F-46D4-183732E9AB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E7E5448-83BC-4E1E-1175-B26ADFD2B8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510144-402C-332C-DF19-70EB3DE8E037}"/>
              </a:ext>
            </a:extLst>
          </p:cNvPr>
          <p:cNvSpPr txBox="1"/>
          <p:nvPr/>
        </p:nvSpPr>
        <p:spPr>
          <a:xfrm>
            <a:off x="889000" y="1625600"/>
            <a:ext cx="9144000" cy="107721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3200" b="1">
                <a:solidFill>
                  <a:srgbClr val="F1F5F9"/>
                </a:solidFill>
                <a:latin typeface="Microsoft YaHei" panose="020B0503020204020204" pitchFamily="34" charset="-122"/>
              </a:rPr>
              <a:t>基于 </a:t>
            </a:r>
            <a:r>
              <a:rPr lang="en-US" altLang="zh-CN" sz="3200" b="1">
                <a:solidFill>
                  <a:srgbClr val="F1F5F9"/>
                </a:solidFill>
                <a:latin typeface="Microsoft YaHei" panose="020B0503020204020204" pitchFamily="34" charset="-122"/>
              </a:rPr>
              <a:t>Attention-LSTM </a:t>
            </a:r>
            <a:r>
              <a:rPr lang="zh-CN" altLang="en-US" sz="3200" b="1">
                <a:solidFill>
                  <a:srgbClr val="F1F5F9"/>
                </a:solidFill>
                <a:latin typeface="Microsoft YaHei" panose="020B0503020204020204" pitchFamily="34" charset="-122"/>
              </a:rPr>
              <a:t>的
交通碰撞风险预测与可解释分析系统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F95634-5498-DF55-0CC7-793A1659A974}"/>
              </a:ext>
            </a:extLst>
          </p:cNvPr>
          <p:cNvSpPr txBox="1"/>
          <p:nvPr/>
        </p:nvSpPr>
        <p:spPr>
          <a:xfrm>
            <a:off x="939800" y="3429000"/>
            <a:ext cx="96520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22D3EE"/>
                </a:solidFill>
                <a:latin typeface="Microsoft YaHei" panose="020B0503020204020204" pitchFamily="34" charset="-122"/>
              </a:rPr>
              <a:t>毕业设计答辩  </a:t>
            </a:r>
            <a:r>
              <a:rPr lang="en-US" altLang="zh-CN" sz="1500">
                <a:solidFill>
                  <a:srgbClr val="22D3EE"/>
                </a:solidFill>
                <a:latin typeface="Microsoft YaHei" panose="020B0503020204020204" pitchFamily="34" charset="-122"/>
              </a:rPr>
              <a:t>|  NYC &amp; Chicago  |  Risk Forecasting Dashboard</a:t>
            </a:r>
            <a:endParaRPr lang="zh-CN" altLang="en-US" sz="1500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7D6B91-CA33-5386-1BC6-5F649E8D68EC}"/>
              </a:ext>
            </a:extLst>
          </p:cNvPr>
          <p:cNvSpPr txBox="1"/>
          <p:nvPr/>
        </p:nvSpPr>
        <p:spPr>
          <a:xfrm>
            <a:off x="939800" y="5334000"/>
            <a:ext cx="9652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400">
                <a:solidFill>
                  <a:srgbClr val="F1F5F9"/>
                </a:solidFill>
                <a:latin typeface="Microsoft YaHei" panose="020B0503020204020204" pitchFamily="34" charset="-122"/>
              </a:rPr>
              <a:t>学生：</a:t>
            </a:r>
            <a:r>
              <a:rPr lang="en-US" altLang="zh-CN" sz="1400">
                <a:solidFill>
                  <a:srgbClr val="F1F5F9"/>
                </a:solidFill>
                <a:latin typeface="Microsoft YaHei" panose="020B0503020204020204" pitchFamily="34" charset="-122"/>
              </a:rPr>
              <a:t>________    </a:t>
            </a:r>
            <a:r>
              <a:rPr lang="zh-CN" altLang="en-US" sz="1400">
                <a:solidFill>
                  <a:srgbClr val="F1F5F9"/>
                </a:solidFill>
                <a:latin typeface="Microsoft YaHei" panose="020B0503020204020204" pitchFamily="34" charset="-122"/>
              </a:rPr>
              <a:t>指导老师：</a:t>
            </a:r>
            <a:r>
              <a:rPr lang="en-US" altLang="zh-CN" sz="1400">
                <a:solidFill>
                  <a:srgbClr val="F1F5F9"/>
                </a:solidFill>
                <a:latin typeface="Microsoft YaHei" panose="020B0503020204020204" pitchFamily="34" charset="-122"/>
              </a:rPr>
              <a:t>________    </a:t>
            </a:r>
            <a:r>
              <a:rPr lang="zh-CN" altLang="en-US" sz="1400">
                <a:solidFill>
                  <a:srgbClr val="F1F5F9"/>
                </a:solidFill>
                <a:latin typeface="Microsoft YaHei" panose="020B0503020204020204" pitchFamily="34" charset="-122"/>
              </a:rPr>
              <a:t>日期：</a:t>
            </a:r>
            <a:r>
              <a:rPr lang="en-US" altLang="zh-CN" sz="1400">
                <a:solidFill>
                  <a:srgbClr val="F1F5F9"/>
                </a:solidFill>
                <a:latin typeface="Microsoft YaHei" panose="020B0503020204020204" pitchFamily="34" charset="-122"/>
              </a:rPr>
              <a:t>________</a:t>
            </a:r>
            <a:endParaRPr lang="zh-CN" altLang="en-US" sz="1400">
              <a:solidFill>
                <a:srgbClr val="F1F5F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9707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2BDE37-9488-5BC3-FD7D-132A52ED6AAB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研究背景与问题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BD8DA8-CC8D-B02F-BA88-2AD241D23533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交通安全预警需要同时关注时序变化、空间关联和漏报风险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F236E2-8844-2D68-817E-18053F2BD185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7A0063-4771-7F33-41C4-604C3A34B9E4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17360F8-2097-5EA0-DC21-2344F0A96D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549400"/>
            <a:ext cx="4826000" cy="3302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13F36AC-4FD7-66EF-5C2B-CFB11888C59D}"/>
              </a:ext>
            </a:extLst>
          </p:cNvPr>
          <p:cNvSpPr txBox="1"/>
          <p:nvPr/>
        </p:nvSpPr>
        <p:spPr>
          <a:xfrm>
            <a:off x="889000" y="1841500"/>
            <a:ext cx="5080000" cy="142603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9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F1F5F9"/>
                </a:solidFill>
                <a:latin typeface="Microsoft YaHei" panose="020B0503020204020204" pitchFamily="34" charset="-122"/>
              </a:rPr>
              <a:t>城市交通碰撞具有突发性和时空相关性
</a:t>
            </a:r>
            <a:r>
              <a:rPr lang="en-US" altLang="zh-CN" sz="19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F1F5F9"/>
                </a:solidFill>
                <a:latin typeface="Microsoft YaHei" panose="020B0503020204020204" pitchFamily="34" charset="-122"/>
              </a:rPr>
              <a:t>传统统计方法难以刻画复杂动态变化
</a:t>
            </a:r>
            <a:r>
              <a:rPr lang="en-US" altLang="zh-CN" sz="19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F1F5F9"/>
                </a:solidFill>
                <a:latin typeface="Microsoft YaHei" panose="020B0503020204020204" pitchFamily="34" charset="-122"/>
              </a:rPr>
              <a:t>交通安全场景中漏报代价高于误报
</a:t>
            </a:r>
            <a:r>
              <a:rPr lang="en-US" altLang="zh-CN" sz="19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F1F5F9"/>
                </a:solidFill>
                <a:latin typeface="Microsoft YaHei" panose="020B0503020204020204" pitchFamily="34" charset="-122"/>
              </a:rPr>
              <a:t>研究目标：提前识别高风险区域和时间片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506F7A2-FB0E-FB5A-5EF9-40A1EE437E8E}"/>
              </a:ext>
            </a:extLst>
          </p:cNvPr>
          <p:cNvSpPr/>
          <p:nvPr/>
        </p:nvSpPr>
        <p:spPr>
          <a:xfrm>
            <a:off x="889000" y="4953000"/>
            <a:ext cx="2286000" cy="9144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C387DC-29D9-B945-8160-CE0F2849B3EE}"/>
              </a:ext>
            </a:extLst>
          </p:cNvPr>
          <p:cNvSpPr txBox="1"/>
          <p:nvPr/>
        </p:nvSpPr>
        <p:spPr>
          <a:xfrm>
            <a:off x="1016000" y="5080000"/>
            <a:ext cx="2032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Task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AB25D7-321A-D1D1-B902-B7F791136FDD}"/>
              </a:ext>
            </a:extLst>
          </p:cNvPr>
          <p:cNvSpPr txBox="1"/>
          <p:nvPr/>
        </p:nvSpPr>
        <p:spPr>
          <a:xfrm>
            <a:off x="1016000" y="5334000"/>
            <a:ext cx="2032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000" b="1">
                <a:solidFill>
                  <a:srgbClr val="22D3EE"/>
                </a:solidFill>
                <a:latin typeface="Microsoft YaHei" panose="020B0503020204020204" pitchFamily="34" charset="-122"/>
              </a:rPr>
              <a:t>Risk Warning</a:t>
            </a:r>
            <a:endParaRPr lang="zh-CN" altLang="en-US" sz="20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670C067-3E06-CAD4-BB35-186CA6871069}"/>
              </a:ext>
            </a:extLst>
          </p:cNvPr>
          <p:cNvSpPr/>
          <p:nvPr/>
        </p:nvSpPr>
        <p:spPr>
          <a:xfrm>
            <a:off x="3429000" y="4953000"/>
            <a:ext cx="2286000" cy="9144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F4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F88032-E377-0200-32B7-460816C26CB6}"/>
              </a:ext>
            </a:extLst>
          </p:cNvPr>
          <p:cNvSpPr txBox="1"/>
          <p:nvPr/>
        </p:nvSpPr>
        <p:spPr>
          <a:xfrm>
            <a:off x="3556000" y="5080000"/>
            <a:ext cx="2032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Focus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8CC2C1-B0B0-6AF0-FFDB-48AF95749A59}"/>
              </a:ext>
            </a:extLst>
          </p:cNvPr>
          <p:cNvSpPr txBox="1"/>
          <p:nvPr/>
        </p:nvSpPr>
        <p:spPr>
          <a:xfrm>
            <a:off x="3556000" y="5334000"/>
            <a:ext cx="2032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000" b="1">
                <a:solidFill>
                  <a:srgbClr val="F43F5E"/>
                </a:solidFill>
                <a:latin typeface="Microsoft YaHei" panose="020B0503020204020204" pitchFamily="34" charset="-122"/>
              </a:rPr>
              <a:t>High Recall</a:t>
            </a:r>
            <a:endParaRPr lang="zh-CN" altLang="en-US" sz="2000" b="1">
              <a:solidFill>
                <a:srgbClr val="F43F5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9570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36E572-766B-DB00-8D31-F09A79A3B9EB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数据集构建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C97D82-B68D-D8E4-83A8-DD7EC3DB4319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双城交通时序数据、事故标签和空间邻接关系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101385-B185-20EF-9E61-D9E19F355CDB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2210D2-268B-E4AB-C927-589A2B7A0040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A2B123-4DBE-DDB3-6CF8-2C1A364B63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524000"/>
            <a:ext cx="4953000" cy="3175000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5A3F193-B388-133F-F518-5CBB50163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92283"/>
              </p:ext>
            </p:extLst>
          </p:nvPr>
        </p:nvGraphicFramePr>
        <p:xfrm>
          <a:off x="762000" y="1841500"/>
          <a:ext cx="5207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833">
                  <a:extLst>
                    <a:ext uri="{9D8B030D-6E8A-4147-A177-3AD203B41FA5}">
                      <a16:colId xmlns:a16="http://schemas.microsoft.com/office/drawing/2014/main" val="373708615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3868992773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3281755315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1990699917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795360115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310996278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Dataset</a:t>
                      </a:r>
                      <a:endParaRPr lang="zh-CN" altLang="en-US" sz="10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Time</a:t>
                      </a:r>
                      <a:endParaRPr lang="zh-CN" altLang="en-US" sz="10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Regions</a:t>
                      </a:r>
                      <a:endParaRPr lang="zh-CN" altLang="en-US" sz="10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Features</a:t>
                      </a:r>
                      <a:endParaRPr lang="zh-CN" altLang="en-US" sz="10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Samples</a:t>
                      </a:r>
                      <a:endParaRPr lang="zh-CN" altLang="en-US" sz="10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Positive</a:t>
                      </a:r>
                      <a:endParaRPr lang="zh-CN" altLang="en-US" sz="10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11629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NYC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13,128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116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840,192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22.53%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87554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Chicago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8,784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27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116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237,168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13.38%</a:t>
                      </a:r>
                      <a:endParaRPr lang="zh-CN" altLang="en-US" sz="10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72548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085068C-CFA2-1BC0-6977-650A888E88F0}"/>
              </a:ext>
            </a:extLst>
          </p:cNvPr>
          <p:cNvSpPr txBox="1"/>
          <p:nvPr/>
        </p:nvSpPr>
        <p:spPr>
          <a:xfrm>
            <a:off x="889000" y="3619500"/>
            <a:ext cx="4953000" cy="99001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输入结构：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time × region × feature
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标签表示区域时间片是否存在碰撞或异常
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邻接矩阵描述道路、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POI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和历史记录关系</a:t>
            </a:r>
          </a:p>
        </p:txBody>
      </p:sp>
    </p:spTree>
    <p:extLst>
      <p:ext uri="{BB962C8B-B14F-4D97-AF65-F5344CB8AC3E}">
        <p14:creationId xmlns:p14="http://schemas.microsoft.com/office/powerpoint/2010/main" val="786575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83571A-BB8D-29BA-9B2A-69CCAD5732BB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34B227-976D-E3AF-E2BF-C2C3ED2E2EDA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从数据构建到模型训练、实验评估和前端展示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D53F1D-2E2B-D06E-C05B-EEA3D4B111B5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C2ADAD-C27B-46F7-4EB5-15BEB380F50B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3AEADEB-6B9E-CD77-908F-A41DD2EE516E}"/>
              </a:ext>
            </a:extLst>
          </p:cNvPr>
          <p:cNvSpPr/>
          <p:nvPr/>
        </p:nvSpPr>
        <p:spPr>
          <a:xfrm>
            <a:off x="1016000" y="2603500"/>
            <a:ext cx="1524000" cy="1016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3CBABE-B798-AD4A-9FEC-BF1DFE1AC71F}"/>
              </a:ext>
            </a:extLst>
          </p:cNvPr>
          <p:cNvSpPr txBox="1"/>
          <p:nvPr/>
        </p:nvSpPr>
        <p:spPr>
          <a:xfrm>
            <a:off x="1016000" y="2870200"/>
            <a:ext cx="1524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F1F5F9"/>
                </a:solidFill>
                <a:latin typeface="Microsoft YaHei" panose="020B0503020204020204" pitchFamily="34" charset="-122"/>
              </a:rPr>
              <a:t>Data</a:t>
            </a:r>
            <a:endParaRPr lang="zh-CN" altLang="en-US" b="1">
              <a:solidFill>
                <a:srgbClr val="F1F5F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41D0B2-2917-4B3D-6F62-73A93E6FC343}"/>
              </a:ext>
            </a:extLst>
          </p:cNvPr>
          <p:cNvSpPr txBox="1"/>
          <p:nvPr/>
        </p:nvSpPr>
        <p:spPr>
          <a:xfrm>
            <a:off x="2603500" y="2870200"/>
            <a:ext cx="4826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22D3EE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3BDE31-114E-596B-7198-28EABCFFE67D}"/>
              </a:ext>
            </a:extLst>
          </p:cNvPr>
          <p:cNvSpPr/>
          <p:nvPr/>
        </p:nvSpPr>
        <p:spPr>
          <a:xfrm>
            <a:off x="3111500" y="2603500"/>
            <a:ext cx="1524000" cy="1016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105E4A-603E-6278-E48B-43A51AFF5B12}"/>
              </a:ext>
            </a:extLst>
          </p:cNvPr>
          <p:cNvSpPr txBox="1"/>
          <p:nvPr/>
        </p:nvSpPr>
        <p:spPr>
          <a:xfrm>
            <a:off x="3111500" y="2870200"/>
            <a:ext cx="1524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F1F5F9"/>
                </a:solidFill>
                <a:latin typeface="Microsoft YaHei" panose="020B0503020204020204" pitchFamily="34" charset="-122"/>
              </a:rPr>
              <a:t>Model</a:t>
            </a:r>
            <a:endParaRPr lang="zh-CN" altLang="en-US" b="1">
              <a:solidFill>
                <a:srgbClr val="F1F5F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0360FF-EC39-02FF-5D55-65A9AC331477}"/>
              </a:ext>
            </a:extLst>
          </p:cNvPr>
          <p:cNvSpPr txBox="1"/>
          <p:nvPr/>
        </p:nvSpPr>
        <p:spPr>
          <a:xfrm>
            <a:off x="4699000" y="2870200"/>
            <a:ext cx="4826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22D3EE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4B9BF7-787B-1B89-2005-4086D4CB833A}"/>
              </a:ext>
            </a:extLst>
          </p:cNvPr>
          <p:cNvSpPr/>
          <p:nvPr/>
        </p:nvSpPr>
        <p:spPr>
          <a:xfrm>
            <a:off x="5207000" y="2603500"/>
            <a:ext cx="1524000" cy="1016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524063-77B7-B7C9-703F-5599376D65AB}"/>
              </a:ext>
            </a:extLst>
          </p:cNvPr>
          <p:cNvSpPr txBox="1"/>
          <p:nvPr/>
        </p:nvSpPr>
        <p:spPr>
          <a:xfrm>
            <a:off x="5207000" y="2870200"/>
            <a:ext cx="1524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F1F5F9"/>
                </a:solidFill>
                <a:latin typeface="Microsoft YaHei" panose="020B0503020204020204" pitchFamily="34" charset="-122"/>
              </a:rPr>
              <a:t>Evaluation</a:t>
            </a:r>
            <a:endParaRPr lang="zh-CN" altLang="en-US" b="1">
              <a:solidFill>
                <a:srgbClr val="F1F5F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7C801C-9A4E-E88D-A352-27528FE7C99D}"/>
              </a:ext>
            </a:extLst>
          </p:cNvPr>
          <p:cNvSpPr txBox="1"/>
          <p:nvPr/>
        </p:nvSpPr>
        <p:spPr>
          <a:xfrm>
            <a:off x="6794500" y="2870200"/>
            <a:ext cx="4826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22D3EE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9689541-FBF3-CDF6-3311-1F8E39485B0C}"/>
              </a:ext>
            </a:extLst>
          </p:cNvPr>
          <p:cNvSpPr/>
          <p:nvPr/>
        </p:nvSpPr>
        <p:spPr>
          <a:xfrm>
            <a:off x="7302500" y="2603500"/>
            <a:ext cx="1524000" cy="1016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5A7A6F6-D79E-AB0D-0E0F-289D3106F836}"/>
              </a:ext>
            </a:extLst>
          </p:cNvPr>
          <p:cNvSpPr txBox="1"/>
          <p:nvPr/>
        </p:nvSpPr>
        <p:spPr>
          <a:xfrm>
            <a:off x="7302500" y="2870200"/>
            <a:ext cx="1524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F1F5F9"/>
                </a:solidFill>
                <a:latin typeface="Microsoft YaHei" panose="020B0503020204020204" pitchFamily="34" charset="-122"/>
              </a:rPr>
              <a:t>Export</a:t>
            </a:r>
            <a:endParaRPr lang="zh-CN" altLang="en-US" b="1">
              <a:solidFill>
                <a:srgbClr val="F1F5F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ECCA91-5832-7839-CF68-EC4A86E872E5}"/>
              </a:ext>
            </a:extLst>
          </p:cNvPr>
          <p:cNvSpPr txBox="1"/>
          <p:nvPr/>
        </p:nvSpPr>
        <p:spPr>
          <a:xfrm>
            <a:off x="8890000" y="2870200"/>
            <a:ext cx="482600" cy="52835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22D3EE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AE0E126-C62F-21B8-B997-E5EA5F884B20}"/>
              </a:ext>
            </a:extLst>
          </p:cNvPr>
          <p:cNvSpPr/>
          <p:nvPr/>
        </p:nvSpPr>
        <p:spPr>
          <a:xfrm>
            <a:off x="9398000" y="2603500"/>
            <a:ext cx="1524000" cy="1016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616C49-0B94-4F47-9B96-8508DA60ED98}"/>
              </a:ext>
            </a:extLst>
          </p:cNvPr>
          <p:cNvSpPr txBox="1"/>
          <p:nvPr/>
        </p:nvSpPr>
        <p:spPr>
          <a:xfrm>
            <a:off x="9398000" y="2870200"/>
            <a:ext cx="1524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F1F5F9"/>
                </a:solidFill>
                <a:latin typeface="Microsoft YaHei" panose="020B0503020204020204" pitchFamily="34" charset="-122"/>
              </a:rPr>
              <a:t>Dashboard</a:t>
            </a:r>
            <a:endParaRPr lang="zh-CN" altLang="en-US" b="1">
              <a:solidFill>
                <a:srgbClr val="F1F5F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1281DB-2FAD-67F2-5A7D-79EAFD0BC069}"/>
              </a:ext>
            </a:extLst>
          </p:cNvPr>
          <p:cNvSpPr txBox="1"/>
          <p:nvPr/>
        </p:nvSpPr>
        <p:spPr>
          <a:xfrm>
            <a:off x="1524000" y="4318000"/>
            <a:ext cx="9144000" cy="99001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后端完成完整训练和实验评估
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导出前端可读 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保证浏览器交互性能
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可视化系统展示风险、标签校验和空间解释</a:t>
            </a:r>
          </a:p>
        </p:txBody>
      </p:sp>
    </p:spTree>
    <p:extLst>
      <p:ext uri="{BB962C8B-B14F-4D97-AF65-F5344CB8AC3E}">
        <p14:creationId xmlns:p14="http://schemas.microsoft.com/office/powerpoint/2010/main" val="357455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6D412E-AF72-0CDC-ADD4-B6B1FA5E1D38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模型结构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CA20A8-CCB2-EE00-39C1-44C700EE2B32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200">
                <a:solidFill>
                  <a:srgbClr val="94A3B8"/>
                </a:solidFill>
                <a:latin typeface="Microsoft YaHei" panose="020B0503020204020204" pitchFamily="34" charset="-122"/>
              </a:rPr>
              <a:t>Attention-LSTM </a:t>
            </a:r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用于建模交通风险的时序变化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6C4DD3-5DD8-C415-A4E4-FF9DA97DCD6E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F8B7AD-374A-5FBE-512F-EADF00F31B5B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6B5AC0-28A0-223A-748B-6EDEEA9E9CC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49400"/>
            <a:ext cx="10541000" cy="381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4C5D9F9-6DE6-3C64-92CF-FE53B757237E}"/>
              </a:ext>
            </a:extLst>
          </p:cNvPr>
          <p:cNvSpPr txBox="1"/>
          <p:nvPr/>
        </p:nvSpPr>
        <p:spPr>
          <a:xfrm>
            <a:off x="1016000" y="5562600"/>
            <a:ext cx="9652000" cy="89768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F1F5F9"/>
                </a:solidFill>
                <a:latin typeface="Microsoft YaHei" panose="020B0503020204020204" pitchFamily="34" charset="-122"/>
              </a:rPr>
              <a:t>• Attention </a:t>
            </a:r>
            <a:r>
              <a:rPr lang="zh-CN" altLang="en-US" sz="1500">
                <a:solidFill>
                  <a:srgbClr val="F1F5F9"/>
                </a:solidFill>
                <a:latin typeface="Microsoft YaHei" panose="020B0503020204020204" pitchFamily="34" charset="-122"/>
              </a:rPr>
              <a:t>模块突出关键时间片和区域特征
</a:t>
            </a:r>
            <a:r>
              <a:rPr lang="en-US" altLang="zh-CN" sz="1500">
                <a:solidFill>
                  <a:srgbClr val="F1F5F9"/>
                </a:solidFill>
                <a:latin typeface="Microsoft YaHei" panose="020B0503020204020204" pitchFamily="34" charset="-122"/>
              </a:rPr>
              <a:t>• LSTM </a:t>
            </a:r>
            <a:r>
              <a:rPr lang="zh-CN" altLang="en-US" sz="1500">
                <a:solidFill>
                  <a:srgbClr val="F1F5F9"/>
                </a:solidFill>
                <a:latin typeface="Microsoft YaHei" panose="020B0503020204020204" pitchFamily="34" charset="-122"/>
              </a:rPr>
              <a:t>编码器捕捉历史交通状态变化
</a:t>
            </a:r>
            <a:r>
              <a:rPr lang="en-US" altLang="zh-CN" sz="15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F1F5F9"/>
                </a:solidFill>
                <a:latin typeface="Microsoft YaHei" panose="020B0503020204020204" pitchFamily="34" charset="-122"/>
              </a:rPr>
              <a:t>输出风险概率并形成预警结果</a:t>
            </a:r>
          </a:p>
        </p:txBody>
      </p:sp>
    </p:spTree>
    <p:extLst>
      <p:ext uri="{BB962C8B-B14F-4D97-AF65-F5344CB8AC3E}">
        <p14:creationId xmlns:p14="http://schemas.microsoft.com/office/powerpoint/2010/main" val="389605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11F100B-9FB1-CF3D-038D-F2F37386AC1F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模型优化与后处理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FAA5A4-84B8-86CE-FA25-1DDC0DA42627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平滑门和流式后处理提升输出稳定性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CF750D-3D10-B0CE-8BAF-1A74005B1B37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7A71CA-CF84-5DB0-A25E-F6CC81B9A85D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2B55DD-ACAB-75A9-7CBA-E1547518E42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498600"/>
            <a:ext cx="4826000" cy="32385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1E3E326-E108-7DCA-30D4-793EE70088FB}"/>
              </a:ext>
            </a:extLst>
          </p:cNvPr>
          <p:cNvSpPr txBox="1"/>
          <p:nvPr/>
        </p:nvSpPr>
        <p:spPr>
          <a:xfrm>
            <a:off x="889000" y="1841500"/>
            <a:ext cx="4953000" cy="136447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平滑门减少相邻时间片预测抖动
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流式后处理增强连续输出稳定性
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预警业务中更关注高风险样本召回
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目标是在召回能力和稳定性之间取得平衡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823DA90-4B26-EDC8-FC78-63188EC7AADE}"/>
              </a:ext>
            </a:extLst>
          </p:cNvPr>
          <p:cNvSpPr/>
          <p:nvPr/>
        </p:nvSpPr>
        <p:spPr>
          <a:xfrm>
            <a:off x="889000" y="4953000"/>
            <a:ext cx="2159000" cy="889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34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C776E5-D995-6831-2433-35E0E1076A30}"/>
              </a:ext>
            </a:extLst>
          </p:cNvPr>
          <p:cNvSpPr txBox="1"/>
          <p:nvPr/>
        </p:nvSpPr>
        <p:spPr>
          <a:xfrm>
            <a:off x="1016000" y="5080000"/>
            <a:ext cx="1905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NYC Recall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3B59C8-EBE0-F328-6886-907BF22D613B}"/>
              </a:ext>
            </a:extLst>
          </p:cNvPr>
          <p:cNvSpPr txBox="1"/>
          <p:nvPr/>
        </p:nvSpPr>
        <p:spPr>
          <a:xfrm>
            <a:off x="1016000" y="5334000"/>
            <a:ext cx="1905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000" b="1">
                <a:solidFill>
                  <a:srgbClr val="34D399"/>
                </a:solidFill>
                <a:latin typeface="Microsoft YaHei" panose="020B0503020204020204" pitchFamily="34" charset="-122"/>
              </a:rPr>
              <a:t>0.8265</a:t>
            </a:r>
            <a:endParaRPr lang="zh-CN" altLang="en-US" sz="2000" b="1">
              <a:solidFill>
                <a:srgbClr val="34D39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A9D42A-CBE4-574D-BB1C-6B21AF312372}"/>
              </a:ext>
            </a:extLst>
          </p:cNvPr>
          <p:cNvSpPr/>
          <p:nvPr/>
        </p:nvSpPr>
        <p:spPr>
          <a:xfrm>
            <a:off x="3365500" y="4953000"/>
            <a:ext cx="2159000" cy="889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34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2F8957-4F03-53A9-1457-D9F069670BD6}"/>
              </a:ext>
            </a:extLst>
          </p:cNvPr>
          <p:cNvSpPr txBox="1"/>
          <p:nvPr/>
        </p:nvSpPr>
        <p:spPr>
          <a:xfrm>
            <a:off x="3492500" y="5080000"/>
            <a:ext cx="1905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Chicago Recall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6B6D29-F421-3E5A-5308-E9251BAF8F9E}"/>
              </a:ext>
            </a:extLst>
          </p:cNvPr>
          <p:cNvSpPr txBox="1"/>
          <p:nvPr/>
        </p:nvSpPr>
        <p:spPr>
          <a:xfrm>
            <a:off x="3492500" y="5334000"/>
            <a:ext cx="1905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000" b="1">
                <a:solidFill>
                  <a:srgbClr val="34D399"/>
                </a:solidFill>
                <a:latin typeface="Microsoft YaHei" panose="020B0503020204020204" pitchFamily="34" charset="-122"/>
              </a:rPr>
              <a:t>0.7055</a:t>
            </a:r>
            <a:endParaRPr lang="zh-CN" altLang="en-US" sz="2000" b="1">
              <a:solidFill>
                <a:srgbClr val="34D39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250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A43CBD-041F-A527-F740-5DEFBB8F06C7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实验设计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2D012D-D160-5EA7-819C-15391301DD4D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多模型对比和多指标评估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B0A1FE-2A64-AFED-73EC-7F7E8CCF4507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E75115-3C16-A901-D339-BF0550C5E3C5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9A533E6-C3AB-46F6-B645-F2F2F0B435D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524000"/>
            <a:ext cx="4953000" cy="3429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7281891-00FB-EFE0-6A78-785AA54827BE}"/>
              </a:ext>
            </a:extLst>
          </p:cNvPr>
          <p:cNvSpPr txBox="1"/>
          <p:nvPr/>
        </p:nvSpPr>
        <p:spPr>
          <a:xfrm>
            <a:off x="889000" y="1841500"/>
            <a:ext cx="4953000" cy="208775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对比模型：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GSNet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STG2Seq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ConvLSTM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LSTM
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传统模型：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LightGBM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XGBoost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LR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ARIMA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HA
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评价指标：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AUC-PR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AUC-ROC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F1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Accuracy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Recall
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类别不平衡场景下重点关注 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AUC-PR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700">
              <a:solidFill>
                <a:srgbClr val="F1F5F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350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3DD4E4-C52C-FDAD-A7B0-3F973CBB3BF6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58A0C1-958D-A45B-3AB1-3EE8F75FB815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200">
                <a:solidFill>
                  <a:srgbClr val="94A3B8"/>
                </a:solidFill>
                <a:latin typeface="Microsoft YaHei" panose="020B0503020204020204" pitchFamily="34" charset="-122"/>
              </a:rPr>
              <a:t>Myplan </a:t>
            </a:r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在双城数据集上取得较好的综合表现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52FA30-8E1E-9441-D86A-D9A23582DE5B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CE3D5B-7275-0E3D-3A19-FA720AAD94CA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952548-9D54-D822-5976-94D18CFA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817082"/>
              </p:ext>
            </p:extLst>
          </p:nvPr>
        </p:nvGraphicFramePr>
        <p:xfrm>
          <a:off x="1079500" y="1841500"/>
          <a:ext cx="10033000" cy="149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167">
                  <a:extLst>
                    <a:ext uri="{9D8B030D-6E8A-4147-A177-3AD203B41FA5}">
                      <a16:colId xmlns:a16="http://schemas.microsoft.com/office/drawing/2014/main" val="2398624145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3291274814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3886091766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2659811346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1863530451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882164111"/>
                    </a:ext>
                  </a:extLst>
                </a:gridCol>
              </a:tblGrid>
              <a:tr h="499533"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Dataset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AUC-PR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AUC-ROC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F1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Accuracy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758275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NYC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0.6955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0.8786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0.6443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0.7865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0.8265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734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Chicago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0.5617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0.8290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0.4730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0.7733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0.7055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187611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9AD73AA-FC21-7077-94AE-B72DFCA79F40}"/>
              </a:ext>
            </a:extLst>
          </p:cNvPr>
          <p:cNvSpPr txBox="1"/>
          <p:nvPr/>
        </p:nvSpPr>
        <p:spPr>
          <a:xfrm>
            <a:off x="1397000" y="4000500"/>
            <a:ext cx="9144000" cy="103618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NYC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上 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AUC-PR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AUC-ROC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F1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均表现较优
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Chicago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上模型在高风险样本召回方面具有优势
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预警场景中 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提升意味着更少漏报</a:t>
            </a:r>
          </a:p>
        </p:txBody>
      </p:sp>
    </p:spTree>
    <p:extLst>
      <p:ext uri="{BB962C8B-B14F-4D97-AF65-F5344CB8AC3E}">
        <p14:creationId xmlns:p14="http://schemas.microsoft.com/office/powerpoint/2010/main" val="8340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9D82EAA-A93E-D8AE-8E90-E15844487866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消融实验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1BA809-9D55-C781-5C2A-5A582433AFDD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验证平滑门和流式后处理的有效性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933E4C-3B56-B4E0-A9BA-4C5A3D30A7E9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C503E3-E2D5-D92F-6295-34F860BEFFB2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7849B9D-C0B6-510B-A864-74A09EA49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294085"/>
              </p:ext>
            </p:extLst>
          </p:nvPr>
        </p:nvGraphicFramePr>
        <p:xfrm>
          <a:off x="889000" y="1841500"/>
          <a:ext cx="5461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289550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82051589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55814705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Variant</a:t>
                      </a:r>
                      <a:endParaRPr lang="zh-CN" altLang="en-US" sz="12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NYC Recall</a:t>
                      </a:r>
                      <a:endParaRPr lang="zh-CN" altLang="en-US" sz="12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Chicago Recall</a:t>
                      </a:r>
                      <a:endParaRPr lang="zh-CN" altLang="en-US" sz="12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917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No Gate + No Stream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0.7108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0.6318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168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No Gate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0.8046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0.6693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4698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No Stream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0.7407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0.6401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4132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Full Model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0.8265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0.7055</a:t>
                      </a:r>
                      <a:endParaRPr lang="zh-CN" altLang="en-US" sz="12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83323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23769CE0-5229-6A09-C675-06758C3C19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676400"/>
            <a:ext cx="4318000" cy="27305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7C622F-9845-B152-5E92-85993F9E684C}"/>
              </a:ext>
            </a:extLst>
          </p:cNvPr>
          <p:cNvSpPr txBox="1"/>
          <p:nvPr/>
        </p:nvSpPr>
        <p:spPr>
          <a:xfrm>
            <a:off x="1143000" y="4762500"/>
            <a:ext cx="9652000" cy="99001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完整模型在两个城市上 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均最高
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模块移除后综合性能下降
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说明性能提升来自多模块协同作用</a:t>
            </a:r>
          </a:p>
        </p:txBody>
      </p:sp>
    </p:spTree>
    <p:extLst>
      <p:ext uri="{BB962C8B-B14F-4D97-AF65-F5344CB8AC3E}">
        <p14:creationId xmlns:p14="http://schemas.microsoft.com/office/powerpoint/2010/main" val="316302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A7DACE-4BE0-9B6C-505C-F49EDEAAB4FE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前端可视化系统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9A129E-83CC-564F-1B18-76304A9C58DE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风险热力图、标签校验和空间解释联动展示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83CF08-B772-52CF-7F83-5CD2517CC935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81B5C8-252C-EBEF-5711-AA772D7DFA3D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02ED9C-3877-2373-430C-AE99DA658C9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460500"/>
            <a:ext cx="10795000" cy="40386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C1BE3EF-D9E6-F3D7-E000-B6FEFBC0BE2F}"/>
              </a:ext>
            </a:extLst>
          </p:cNvPr>
          <p:cNvSpPr txBox="1"/>
          <p:nvPr/>
        </p:nvSpPr>
        <p:spPr>
          <a:xfrm>
            <a:off x="1016000" y="5689600"/>
            <a:ext cx="9906000" cy="85151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4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F1F5F9"/>
                </a:solidFill>
                <a:latin typeface="Microsoft YaHei" panose="020B0503020204020204" pitchFamily="34" charset="-122"/>
              </a:rPr>
              <a:t>城市切换、时间轴播放、地图交互
</a:t>
            </a:r>
            <a:r>
              <a:rPr lang="en-US" altLang="zh-CN" sz="14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F1F5F9"/>
                </a:solidFill>
                <a:latin typeface="Microsoft YaHei" panose="020B0503020204020204" pitchFamily="34" charset="-122"/>
              </a:rPr>
              <a:t>展示风险概率、流量偏差、</a:t>
            </a:r>
            <a:r>
              <a:rPr lang="en-US" altLang="zh-CN" sz="1400">
                <a:solidFill>
                  <a:srgbClr val="F1F5F9"/>
                </a:solidFill>
                <a:latin typeface="Microsoft YaHei" panose="020B0503020204020204" pitchFamily="34" charset="-122"/>
              </a:rPr>
              <a:t>TP / FP / FN </a:t>
            </a:r>
            <a:r>
              <a:rPr lang="zh-CN" altLang="en-US" sz="1400">
                <a:solidFill>
                  <a:srgbClr val="F1F5F9"/>
                </a:solidFill>
                <a:latin typeface="Microsoft YaHei" panose="020B0503020204020204" pitchFamily="34" charset="-122"/>
              </a:rPr>
              <a:t>校验
</a:t>
            </a:r>
            <a:r>
              <a:rPr lang="en-US" altLang="zh-CN" sz="14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F1F5F9"/>
                </a:solidFill>
                <a:latin typeface="Microsoft YaHei" panose="020B0503020204020204" pitchFamily="34" charset="-122"/>
              </a:rPr>
              <a:t>右侧面板提供局部特征和空间邻接解释</a:t>
            </a:r>
          </a:p>
        </p:txBody>
      </p:sp>
    </p:spTree>
    <p:extLst>
      <p:ext uri="{BB962C8B-B14F-4D97-AF65-F5344CB8AC3E}">
        <p14:creationId xmlns:p14="http://schemas.microsoft.com/office/powerpoint/2010/main" val="2394076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480E39-D7F3-FDF1-D1F2-8D6E4FD6E8FF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前端数据说明与系统边界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396121-2C21-03E3-C6CC-2B09E0889FF0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代表性 </a:t>
            </a:r>
            <a:r>
              <a:rPr lang="en-US" altLang="zh-CN" sz="1200">
                <a:solidFill>
                  <a:srgbClr val="94A3B8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样本用于保证浏览器交互性能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1F5C0A-BDE7-B668-BF39-15FB5D0D9F64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0673FA-5361-9C66-2DFE-A4C8E466E339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597A6B4-380B-A8EE-CD9A-926476529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520878"/>
              </p:ext>
            </p:extLst>
          </p:nvPr>
        </p:nvGraphicFramePr>
        <p:xfrm>
          <a:off x="1143000" y="1841500"/>
          <a:ext cx="9652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395160084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1805078885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3406882163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3103081375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357901046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City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Frames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Regions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Records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With Labels</a:t>
                      </a:r>
                      <a:endParaRPr lang="zh-CN" altLang="en-US" sz="1300" b="1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F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0955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NYC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13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832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296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C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8376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Chicago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13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27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351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F1F5F9"/>
                          </a:solidFill>
                          <a:latin typeface="Microsoft YaHei" panose="020B0503020204020204" pitchFamily="34" charset="-122"/>
                        </a:rPr>
                        <a:t>83</a:t>
                      </a:r>
                      <a:endParaRPr lang="zh-CN" altLang="en-US" sz="1300" b="0">
                        <a:solidFill>
                          <a:srgbClr val="F1F5F9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08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22731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02D8F25-6600-C346-93D8-A445F5EA2C05}"/>
              </a:ext>
            </a:extLst>
          </p:cNvPr>
          <p:cNvSpPr txBox="1"/>
          <p:nvPr/>
        </p:nvSpPr>
        <p:spPr>
          <a:xfrm>
            <a:off x="1460500" y="3873500"/>
            <a:ext cx="8890000" cy="136447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前端加载导出的 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JSON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，而不是直接加载全量 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.npy
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部分区域描述和展示文案属于可视化语义映射
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当前系统是离线预测与可视化原型
</a:t>
            </a:r>
            <a:r>
              <a:rPr lang="en-US" altLang="zh-CN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F1F5F9"/>
                </a:solidFill>
                <a:latin typeface="Microsoft YaHei" panose="020B0503020204020204" pitchFamily="34" charset="-122"/>
              </a:rPr>
              <a:t>不是实时生产级交通平台</a:t>
            </a:r>
          </a:p>
        </p:txBody>
      </p:sp>
    </p:spTree>
    <p:extLst>
      <p:ext uri="{BB962C8B-B14F-4D97-AF65-F5344CB8AC3E}">
        <p14:creationId xmlns:p14="http://schemas.microsoft.com/office/powerpoint/2010/main" val="2162871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A96BD4-C25B-1C9C-527A-ACEBEE7DEBC2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项目部署与运行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670B79-4BA4-1CF5-066E-42FAEED8BE6D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200">
                <a:solidFill>
                  <a:srgbClr val="94A3B8"/>
                </a:solidFill>
                <a:latin typeface="Microsoft YaHei" panose="020B0503020204020204" pitchFamily="34" charset="-122"/>
              </a:rPr>
              <a:t>Git LFS </a:t>
            </a:r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管理大文件，本地 </a:t>
            </a:r>
            <a:r>
              <a:rPr lang="en-US" altLang="zh-CN" sz="1200">
                <a:solidFill>
                  <a:srgbClr val="94A3B8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服务运行前端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C0F7A7-72E9-C6AB-83D3-AB4C6FE6A454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2718E9-6C06-A174-C7CA-DC9A7A970A13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A42DC1-BEC8-D89C-B99A-72A3AC91EB3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524000"/>
            <a:ext cx="4889500" cy="3302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D9CA45E-C5BA-FBB8-9DE2-7EE9D71E4856}"/>
              </a:ext>
            </a:extLst>
          </p:cNvPr>
          <p:cNvSpPr txBox="1"/>
          <p:nvPr/>
        </p:nvSpPr>
        <p:spPr>
          <a:xfrm>
            <a:off x="889000" y="1841500"/>
            <a:ext cx="4953000" cy="130292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GitHub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仓库保存代码、文档、图片和 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LFS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指针
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.npy / .h5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大文件需要 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git lfs pull
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前端通过 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python -m http.server 8000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启动
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不要直接使用 </a:t>
            </a:r>
            <a:r>
              <a:rPr lang="en-US" altLang="zh-CN" sz="1700">
                <a:solidFill>
                  <a:srgbClr val="F1F5F9"/>
                </a:solidFill>
                <a:latin typeface="Microsoft YaHei" panose="020B0503020204020204" pitchFamily="34" charset="-122"/>
              </a:rPr>
              <a:t>Download ZIP </a:t>
            </a:r>
            <a:r>
              <a:rPr lang="zh-CN" altLang="en-US" sz="1700">
                <a:solidFill>
                  <a:srgbClr val="F1F5F9"/>
                </a:solidFill>
                <a:latin typeface="Microsoft YaHei" panose="020B0503020204020204" pitchFamily="34" charset="-122"/>
              </a:rPr>
              <a:t>获取数据集</a:t>
            </a:r>
          </a:p>
        </p:txBody>
      </p:sp>
    </p:spTree>
    <p:extLst>
      <p:ext uri="{BB962C8B-B14F-4D97-AF65-F5344CB8AC3E}">
        <p14:creationId xmlns:p14="http://schemas.microsoft.com/office/powerpoint/2010/main" val="723428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6B7534-B626-30E0-1432-54495900640C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A8FCE7-3E5F-1AF8-A5E8-98C72AA04489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完成从数据、模型、实验到可视化的完整闭环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376D54-331C-BB6A-8CB0-3B16499EA9B7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E4BE7C-B117-2631-FF2E-9633AEE9BDC2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D14C93-F155-8995-96F6-23CD745D0EDA}"/>
              </a:ext>
            </a:extLst>
          </p:cNvPr>
          <p:cNvSpPr txBox="1"/>
          <p:nvPr/>
        </p:nvSpPr>
        <p:spPr>
          <a:xfrm>
            <a:off x="1270000" y="1905000"/>
            <a:ext cx="9652000" cy="192360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构建 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NYC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Chicago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双城交通风险预测数据流程
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设计并训练 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Attention-LSTM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风险预测模型
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完成多模型对比实验和消融实验
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实现前端风险热力图、标签校验和空间解释
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形成论文图表、表格、答辩问答和演示材料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CCB4D4A-DDAD-14B1-53A8-988C3233E47C}"/>
              </a:ext>
            </a:extLst>
          </p:cNvPr>
          <p:cNvSpPr/>
          <p:nvPr/>
        </p:nvSpPr>
        <p:spPr>
          <a:xfrm>
            <a:off x="1524000" y="5143500"/>
            <a:ext cx="2286000" cy="889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2F39BE-7783-2FD1-4B43-FDA0A092D68D}"/>
              </a:ext>
            </a:extLst>
          </p:cNvPr>
          <p:cNvSpPr txBox="1"/>
          <p:nvPr/>
        </p:nvSpPr>
        <p:spPr>
          <a:xfrm>
            <a:off x="1651000" y="5270500"/>
            <a:ext cx="2032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Pipeline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A86249-39CF-BC46-43EF-C6D3ED987ADF}"/>
              </a:ext>
            </a:extLst>
          </p:cNvPr>
          <p:cNvSpPr txBox="1"/>
          <p:nvPr/>
        </p:nvSpPr>
        <p:spPr>
          <a:xfrm>
            <a:off x="1651000" y="5524500"/>
            <a:ext cx="2032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000" b="1">
                <a:solidFill>
                  <a:srgbClr val="22D3EE"/>
                </a:solidFill>
                <a:latin typeface="Microsoft YaHei" panose="020B0503020204020204" pitchFamily="34" charset="-122"/>
              </a:rPr>
              <a:t>Complete</a:t>
            </a:r>
            <a:endParaRPr lang="zh-CN" altLang="en-US" sz="20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DC352B8-7F2A-DB31-A842-3E8DBB7F506A}"/>
              </a:ext>
            </a:extLst>
          </p:cNvPr>
          <p:cNvSpPr/>
          <p:nvPr/>
        </p:nvSpPr>
        <p:spPr>
          <a:xfrm>
            <a:off x="4953000" y="5143500"/>
            <a:ext cx="2286000" cy="889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2D5B99-2D2F-1DE9-E46D-5E738FCFEA27}"/>
              </a:ext>
            </a:extLst>
          </p:cNvPr>
          <p:cNvSpPr txBox="1"/>
          <p:nvPr/>
        </p:nvSpPr>
        <p:spPr>
          <a:xfrm>
            <a:off x="5080000" y="5270500"/>
            <a:ext cx="2032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Datasets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66DE2E-CC33-654B-34E0-634552C76B24}"/>
              </a:ext>
            </a:extLst>
          </p:cNvPr>
          <p:cNvSpPr txBox="1"/>
          <p:nvPr/>
        </p:nvSpPr>
        <p:spPr>
          <a:xfrm>
            <a:off x="5080000" y="5524500"/>
            <a:ext cx="2032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000" b="1">
                <a:solidFill>
                  <a:srgbClr val="F59E0B"/>
                </a:solidFill>
                <a:latin typeface="Microsoft YaHei" panose="020B0503020204020204" pitchFamily="34" charset="-122"/>
              </a:rPr>
              <a:t>2 Cities</a:t>
            </a:r>
            <a:endParaRPr lang="zh-CN" altLang="en-US" sz="20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F4E101F-A09C-0144-5192-AF71F16F39E5}"/>
              </a:ext>
            </a:extLst>
          </p:cNvPr>
          <p:cNvSpPr/>
          <p:nvPr/>
        </p:nvSpPr>
        <p:spPr>
          <a:xfrm>
            <a:off x="8382000" y="5143500"/>
            <a:ext cx="2286000" cy="889000"/>
          </a:xfrm>
          <a:prstGeom prst="roundRect">
            <a:avLst/>
          </a:prstGeom>
          <a:solidFill>
            <a:srgbClr val="12233E"/>
          </a:solidFill>
          <a:ln w="12700">
            <a:solidFill>
              <a:srgbClr val="34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BD766C-384B-A80E-C93F-46E30A4D5A35}"/>
              </a:ext>
            </a:extLst>
          </p:cNvPr>
          <p:cNvSpPr txBox="1"/>
          <p:nvPr/>
        </p:nvSpPr>
        <p:spPr>
          <a:xfrm>
            <a:off x="8509000" y="5270500"/>
            <a:ext cx="2032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Dashboard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B67257-1006-BA51-8ABA-8D15751A5510}"/>
              </a:ext>
            </a:extLst>
          </p:cNvPr>
          <p:cNvSpPr txBox="1"/>
          <p:nvPr/>
        </p:nvSpPr>
        <p:spPr>
          <a:xfrm>
            <a:off x="8509000" y="5524500"/>
            <a:ext cx="20320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000" b="1">
                <a:solidFill>
                  <a:srgbClr val="34D399"/>
                </a:solidFill>
                <a:latin typeface="Microsoft YaHei" panose="020B0503020204020204" pitchFamily="34" charset="-122"/>
              </a:rPr>
              <a:t>Ready</a:t>
            </a:r>
            <a:endParaRPr lang="zh-CN" altLang="en-US" sz="2000" b="1">
              <a:solidFill>
                <a:srgbClr val="34D39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60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E6F95B-DCF2-DFB9-65FD-554E82694F1E}"/>
              </a:ext>
            </a:extLst>
          </p:cNvPr>
          <p:cNvSpPr txBox="1"/>
          <p:nvPr/>
        </p:nvSpPr>
        <p:spPr>
          <a:xfrm>
            <a:off x="533400" y="355600"/>
            <a:ext cx="9652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600" b="1">
                <a:solidFill>
                  <a:srgbClr val="F1F5F9"/>
                </a:solidFill>
                <a:latin typeface="Microsoft YaHei" panose="020B0503020204020204" pitchFamily="34" charset="-122"/>
              </a:rPr>
              <a:t>不足与展望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6DECEF-D39B-CAAE-19CA-3A3BB1628B5B}"/>
              </a:ext>
            </a:extLst>
          </p:cNvPr>
          <p:cNvSpPr txBox="1"/>
          <p:nvPr/>
        </p:nvSpPr>
        <p:spPr>
          <a:xfrm>
            <a:off x="558800" y="863600"/>
            <a:ext cx="10414000" cy="28725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从离线原型扩展到实时交通预警系统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8D0520-0DFD-C166-B4FA-1B68D6D68DF5}"/>
              </a:ext>
            </a:extLst>
          </p:cNvPr>
          <p:cNvSpPr/>
          <p:nvPr/>
        </p:nvSpPr>
        <p:spPr>
          <a:xfrm>
            <a:off x="558800" y="1320800"/>
            <a:ext cx="2667000" cy="38100"/>
          </a:xfrm>
          <a:prstGeom prst="rect">
            <a:avLst/>
          </a:prstGeom>
          <a:solidFill>
            <a:srgbClr val="22D3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4580F7-915A-82DD-4522-73DD605714E3}"/>
              </a:ext>
            </a:extLst>
          </p:cNvPr>
          <p:cNvSpPr txBox="1"/>
          <p:nvPr/>
        </p:nvSpPr>
        <p:spPr>
          <a:xfrm>
            <a:off x="11430000" y="6451600"/>
            <a:ext cx="5080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9F645A-075F-ED98-1A9A-EDAD775FD755}"/>
              </a:ext>
            </a:extLst>
          </p:cNvPr>
          <p:cNvSpPr txBox="1"/>
          <p:nvPr/>
        </p:nvSpPr>
        <p:spPr>
          <a:xfrm>
            <a:off x="1270000" y="1905000"/>
            <a:ext cx="9398000" cy="192360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当前系统为离线预测与可视化原型
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前端展示采用代表性时间帧抽样
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尚未接入实时交通流和事故接口
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后续可融合真实 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GIS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边界、天气、施工和大型活动数据
</a:t>
            </a:r>
            <a:r>
              <a:rPr lang="en-US" altLang="zh-CN" sz="2100">
                <a:solidFill>
                  <a:srgbClr val="F1F5F9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F1F5F9"/>
                </a:solidFill>
                <a:latin typeface="Microsoft YaHei" panose="020B0503020204020204" pitchFamily="34" charset="-122"/>
              </a:rPr>
              <a:t>进一步扩展在线预测和实时预警服务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912C41-E57C-3711-A126-CB1913811324}"/>
              </a:ext>
            </a:extLst>
          </p:cNvPr>
          <p:cNvSpPr txBox="1"/>
          <p:nvPr/>
        </p:nvSpPr>
        <p:spPr>
          <a:xfrm>
            <a:off x="4445000" y="5334000"/>
            <a:ext cx="3302000" cy="56425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3000" b="1">
                <a:solidFill>
                  <a:srgbClr val="22D3EE"/>
                </a:solidFill>
                <a:latin typeface="Microsoft YaHei" panose="020B0503020204020204" pitchFamily="34" charset="-122"/>
              </a:rPr>
              <a:t>Thank You</a:t>
            </a:r>
            <a:endParaRPr lang="zh-CN" altLang="en-US" sz="30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1314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Microsoft Office PowerPoint</Application>
  <PresentationFormat>自定义</PresentationFormat>
  <Paragraphs>174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 per</dc:creator>
  <cp:lastModifiedBy>har per</cp:lastModifiedBy>
  <cp:revision>1</cp:revision>
  <dcterms:created xsi:type="dcterms:W3CDTF">2026-04-29T12:49:50Z</dcterms:created>
  <dcterms:modified xsi:type="dcterms:W3CDTF">2026-04-29T12:49:50Z</dcterms:modified>
</cp:coreProperties>
</file>